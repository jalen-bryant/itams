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ABB3BF-7466-4321-A7BC-5494A73A3518}" v="4" dt="2026-06-25T05:13:26.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034" autoAdjust="0"/>
  </p:normalViewPr>
  <p:slideViewPr>
    <p:cSldViewPr snapToGrid="0">
      <p:cViewPr varScale="1">
        <p:scale>
          <a:sx n="79" d="100"/>
          <a:sy n="79" d="100"/>
        </p:scale>
        <p:origin x="17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len A Bryant" userId="7ec865fb-2b15-4c5a-90af-370de5bca4fd" providerId="ADAL" clId="{9C378BEB-31A3-4C18-A58F-2DBB4E44FE4D}"/>
    <pc:docChg chg="modSld">
      <pc:chgData name="Jalen A Bryant" userId="7ec865fb-2b15-4c5a-90af-370de5bca4fd" providerId="ADAL" clId="{9C378BEB-31A3-4C18-A58F-2DBB4E44FE4D}" dt="2026-06-25T05:13:39.040" v="8" actId="20577"/>
      <pc:docMkLst>
        <pc:docMk/>
      </pc:docMkLst>
      <pc:sldChg chg="modNotesTx">
        <pc:chgData name="Jalen A Bryant" userId="7ec865fb-2b15-4c5a-90af-370de5bca4fd" providerId="ADAL" clId="{9C378BEB-31A3-4C18-A58F-2DBB4E44FE4D}" dt="2026-06-25T05:12:16.472" v="5" actId="20577"/>
        <pc:sldMkLst>
          <pc:docMk/>
          <pc:sldMk cId="2126728105" sldId="262"/>
        </pc:sldMkLst>
      </pc:sldChg>
      <pc:sldChg chg="modNotesTx">
        <pc:chgData name="Jalen A Bryant" userId="7ec865fb-2b15-4c5a-90af-370de5bca4fd" providerId="ADAL" clId="{9C378BEB-31A3-4C18-A58F-2DBB4E44FE4D}" dt="2026-06-25T05:13:39.040" v="8" actId="20577"/>
        <pc:sldMkLst>
          <pc:docMk/>
          <pc:sldMk cId="586945306"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day, my name is Jalen Bryant, and this is my final presentation for </a:t>
            </a:r>
            <a:r>
              <a:rPr lang="en-US" dirty="0"/>
              <a:t>my Masters in Software Development capstone</a:t>
            </a:r>
            <a:r>
              <a:rPr dirty="0"/>
              <a:t>. My capstone project is ITAMS, the IT Asset Management System. ITAMS is a production-hosted web application that keeps organizational assets traceable from intake through assignment, active use, and retirement. In this presentation, I will connect the original business problem to the completed solution, review the final architecture and functionality, demonstrate the live application, and summarize the documentation and testing evidence that supports Milestone 5 completion. The production application is available at itams.app.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presentation follows the project from problem to proof. I will start with the asset-tracking problem and the completed ITAMS solution. Then I will review the technical architecture and the functionality included in the final release. From there, I will cover the security controls and move into a live demonstration of the production site. After the demo, I will explain how the requirements trace to the design, source modules, and test evidence. I will finish with the final validation results, deployment process, maintenance risks, and the Milestone 5 submission package.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problem ITAMS was built to solve is common in IT operations: asset data can become scattered across spreadsheets, informal notes, and disconnected records. When that happens, teams may not be able to quickly verify who has an asset, whether the asset record is accurate, or what changes occurred over time. Role boundaries can also become inconsistent, and reports often require manual reconciliation before they are useful. ITAMS replaces that process with a single authenticated application for inventory, assignments, users, reports, audit logs, and lifecycle history. The final solution is more than basic asset CRUD. It includes role-based authorization, MongoDB reference integrity, operational history, automated testing, production deployment, and support documentation.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ITAMS uses a layered web architecture. The client is a Blazor WebAssembly application that provides routeable pages, forms, role-aware navigation, API clients, and browser session storage. The browser communicates with the server over an HTTPS JSON API. Access tokens identify the authenticated user, and refresh sessions support renewal, rotation, and revocation. The server is an ASP.NET Core API organized into seven endpoint groups with twenty-six mapped routes, authorization policies, request validation, and domain services. MongoDB stores assets, assignments, users, sessions, audit logs, and lifecycle events as documents. In production, releases follow a Git-based deployment path that validates the build, publishes versioned output, switches IIS to the new release, and completes smoke checks so rollback remains available.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final release can be described in three areas: inventory, people and access, and operational evidence. Inventory includes asset creation, updates, deletion, filtering, pagination, status tracking, and assignment-state tracking. The assignment workflow opens and closes custody records while synchronizing the asset’s current assignee. People and access includes administrator-managed accounts, roles, departments, active status, password resets, login, refresh, logout, password changes, and bootstrap administrator setup. The evidence area includes KPI reporting, asset and user breakdowns, assignment and warranty trends, read-only audit logs, and lifecycle history. These features are connected to the production API and MongoDB data model, which supports a complete workflow from asset intake through operational reporting.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Security is enforced at both the client and API layers. The client improves usability by hiding actions that do not apply to the current role, but the API authorization policy is the control that actually blocks unauthorized behavior. JWT access tokens are backed by server-side refresh sessions, which means access can be revoked after logout, password changes, administrative password resets, role changes, status changes, or account deactivation. Additional protections include password hashing, account lockout, refresh-token rotation, rate limiting, request-size limits, CORS controls, security headers, generic login failure responses, and server-side validation on protected routes. Auditor accounts are intentionally limited to read-only reporting and history access.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 will now demonstrate the production application at itams.app. I am starting at the secure sign-in page. After I sign in, the system loads navigation and available actions based on the current user’s role.</a:t>
            </a:r>
          </a:p>
          <a:p>
            <a:endParaRPr dirty="0"/>
          </a:p>
          <a:p>
            <a:r>
              <a:rPr dirty="0"/>
              <a:t>First, I will open the Assets page. This page shows inventory records with filtering and pagination. I can review details such as asset tag, serial number, type, manufacturer, model, status, department, location, lifecycle dates, and current assignment. I can also create or update an asset, and the API validates the record before it is saved.</a:t>
            </a:r>
          </a:p>
          <a:p>
            <a:endParaRPr dirty="0"/>
          </a:p>
          <a:p>
            <a:r>
              <a:rPr dirty="0"/>
              <a:t>Next, I will open the Assignments page. This workflow connects an existing asset to an existing user, records the start date and notes, and supports closing custody records. When an assignment changes, ITAMS synchronizes the asset’s current assignment state and records the related history.</a:t>
            </a:r>
          </a:p>
          <a:p>
            <a:endParaRPr dirty="0"/>
          </a:p>
          <a:p>
            <a:r>
              <a:rPr dirty="0"/>
              <a:t>The Users page demonstrates administrative account management. Authorized users can maintain roles, departments, active status, and password reset controls. These actions are not protected only by the interface; they are also enforced by server-side authorization policies.</a:t>
            </a:r>
          </a:p>
          <a:p>
            <a:endParaRPr dirty="0"/>
          </a:p>
          <a:p>
            <a:r>
              <a:rPr dirty="0"/>
              <a:t>The Reports page summarizes operational data with KPIs, breakdowns, and trends. The History page provides read-only audit logs and lifecycle events with the actor, time, affected entity, action, and recorded change context. These records provide accountability for important activity.</a:t>
            </a:r>
          </a:p>
          <a:p>
            <a:endParaRPr dirty="0"/>
          </a:p>
          <a:p>
            <a:r>
              <a:rPr dirty="0"/>
              <a:t>To close the workflow, I will sign out. The active session is revoked, and the application returns to the sign-in page.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final documentation creates a traceable path from requirement to proof. The Requirements Specification and User Stories define ten functional user stories and eight non-functional requirements. The Technical Design Specification explains the architecture and the controls used to satisfy those requirements. The source implementation contains the pages, endpoint groups, and services that deliver the functionality. The Traceability Matrix connects those requirements to manual and automated test evidence. For example, user story US-003 requires users to change their password. That story traces to the authentication and session design, the AuthEndpoints and AuthService implementation, test case TC-003, and the authentication integration tests. This alignment shows that the final system is supported by design, code, and verification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final validation results provide measurable evidence that ITAMS is ready for review. The automated API and integration suite passed all twenty-seven tests with zero failures in the Release configuration. The suite includes seven test classes covering authentication, authorization and history, bootstrap administration, CORS, operation context, reports, and security hardening. The Test Cases workbook contains seventeen documented cases, and all seventeen are marked Pass. These cases cover application workflows, security behavior, deployment, rollback, and source handoff. Four production smoke checks also passed: the site responded successfully, the protected current-user endpoint rejected an unauthenticated request as expected, the API base address was correct, and the www address redirected to the canonical site.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production deployment process is designed to be repeatable and reversible. A validated Git deployment hook restores dependencies, builds the solution, and runs automated tests before publishing. The client and API are then placed into a versioned release directory. IIS release pointers are updated, the application pool is recycled, and the site is verified with smoke checks. The operations documentation also covers DNS, certificates, secrets, backups, logging, SSH access, and troubleshooting. If a release does not pass validation, the previous versioned release can be restored, IIS can be recycled, and the smoke checks can be repeated. This gives the project a practical operating model instead of a one-time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final dependency audit identified two maintenance risks in the transitive dependency graph. SharpCompress version 0.30.1 has a moderate severity advisory, and Snappier version 1.0.0 has a high severity advisory. These advisories did not cause failures in the final twenty-seven-test run, but they are documented so they can be handled through normal maintenance. The planned response is to track upstream package updates, review release notes and compatibility, apply fixes in a maintenance branch, rerun the full automated test suite and production smoke checks, and deploy through the same versioned release process. This approach keeps the risk visible and actionable without treating it as an unresolved release blocker.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conclusion, ITAMS is ready for final Milestone 5 review. The application is deployed in production, and the documentation artifacts have been finalized to align with the implemented system. Instructor approval is recorded as granted in the Project Proposal, Requirements Specification, and Technical Design Specification. The functional and non-functional requirements are traceable to the design, implementation, and test evidence. The final automated suite passed twenty-seven out of twenty-seven tests, and the production smoke checks were successful. The final LMS package includes this PowerPoint presentation, the ten-to-fifteen-minute screencast and URL, the source-code delivery, and the final Documentation ZIP. Thank you for reviewing my capstone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l="25926" r="25926"/>
          <a:stretch>
            <a:fillRect/>
          </a:stretch>
        </p:blipFill>
        <p:spPr>
          <a:xfrm>
            <a:off x="7239000" y="0"/>
            <a:ext cx="4953000" cy="6858000"/>
          </a:xfrm>
          <a:prstGeom prst="rect">
            <a:avLst/>
          </a:prstGeom>
        </p:spPr>
      </p:pic>
      <p:sp>
        <p:nvSpPr>
          <p:cNvPr id="2" name="cover-image-overlay">
            <a:extLst>
              <a:ext uri="{FF2B5EF4-FFF2-40B4-BE49-F238E27FC236}">
                <a16:creationId xmlns:a16="http://schemas.microsoft.com/office/drawing/2014/main" id="{41445F3A-9591-47C5-9161-92A1A5D17F25}"/>
              </a:ext>
            </a:extLst>
          </p:cNvPr>
          <p:cNvSpPr>
            <a:spLocks noGrp="1"/>
          </p:cNvSpPr>
          <p:nvPr/>
        </p:nvSpPr>
        <p:spPr>
          <a:xfrm>
            <a:off x="7239000" y="0"/>
            <a:ext cx="4953000" cy="6858000"/>
          </a:xfrm>
          <a:prstGeom prst="rect">
            <a:avLst/>
          </a:prstGeom>
          <a:solidFill>
            <a:srgbClr val="1C2541"/>
          </a:solidFill>
          <a:ln w="0">
            <a:noFill/>
            <a:prstDash val="solid"/>
          </a:ln>
        </p:spPr>
        <p:txBody>
          <a:bodyPr/>
          <a:lstStyle/>
          <a:p>
            <a:endParaRPr lang="en-US"/>
          </a:p>
        </p:txBody>
      </p:sp>
      <p:sp>
        <p:nvSpPr>
          <p:cNvPr id="3" name="cover-eyebrow">
            <a:extLst>
              <a:ext uri="{FF2B5EF4-FFF2-40B4-BE49-F238E27FC236}">
                <a16:creationId xmlns:a16="http://schemas.microsoft.com/office/drawing/2014/main" id="{2EC3489F-E6F8-4AD8-B02A-9FD2EAFF50DA}"/>
              </a:ext>
            </a:extLst>
          </p:cNvPr>
          <p:cNvSpPr>
            <a:spLocks noGrp="1"/>
          </p:cNvSpPr>
          <p:nvPr/>
        </p:nvSpPr>
        <p:spPr>
          <a:xfrm>
            <a:off x="495300" y="647700"/>
            <a:ext cx="4762500" cy="266700"/>
          </a:xfrm>
          <a:prstGeom prst="rect">
            <a:avLst/>
          </a:prstGeom>
          <a:noFill/>
          <a:ln w="0">
            <a:noFill/>
            <a:prstDash val="solid"/>
          </a:ln>
        </p:spPr>
        <p:txBody>
          <a:bodyPr anchor="t"/>
          <a:lstStyle/>
          <a:p>
            <a:pPr algn="l">
              <a:defRPr sz="1275" b="1" i="0">
                <a:solidFill>
                  <a:srgbClr val="137D72"/>
                </a:solidFill>
              </a:defRPr>
            </a:pPr>
            <a:r>
              <a:rPr sz="1275" b="1" i="0">
                <a:solidFill>
                  <a:srgbClr val="137D72"/>
                </a:solidFill>
              </a:rPr>
              <a:t>FINAL PROJECT PRESENTATION</a:t>
            </a:r>
          </a:p>
        </p:txBody>
      </p:sp>
      <p:sp>
        <p:nvSpPr>
          <p:cNvPr id="4" name="cover-title">
            <a:extLst>
              <a:ext uri="{FF2B5EF4-FFF2-40B4-BE49-F238E27FC236}">
                <a16:creationId xmlns:a16="http://schemas.microsoft.com/office/drawing/2014/main" id="{9F6FB5A6-8D44-4C80-8514-FCE3A7CBD7FB}"/>
              </a:ext>
            </a:extLst>
          </p:cNvPr>
          <p:cNvSpPr>
            <a:spLocks noGrp="1"/>
          </p:cNvSpPr>
          <p:nvPr/>
        </p:nvSpPr>
        <p:spPr>
          <a:xfrm>
            <a:off x="495300" y="1276350"/>
            <a:ext cx="5905500" cy="914400"/>
          </a:xfrm>
          <a:prstGeom prst="rect">
            <a:avLst/>
          </a:prstGeom>
          <a:noFill/>
          <a:ln w="0">
            <a:noFill/>
            <a:prstDash val="solid"/>
          </a:ln>
        </p:spPr>
        <p:txBody>
          <a:bodyPr anchor="t"/>
          <a:lstStyle/>
          <a:p>
            <a:pPr algn="l">
              <a:defRPr sz="5400" b="1" i="0">
                <a:solidFill>
                  <a:srgbClr val="0B132B"/>
                </a:solidFill>
              </a:defRPr>
            </a:pPr>
            <a:r>
              <a:rPr sz="5400" b="1" i="0">
                <a:solidFill>
                  <a:srgbClr val="0B132B"/>
                </a:solidFill>
              </a:rPr>
              <a:t>ITAMS</a:t>
            </a:r>
          </a:p>
        </p:txBody>
      </p:sp>
      <p:sp>
        <p:nvSpPr>
          <p:cNvPr id="5" name="cover-subtitle">
            <a:extLst>
              <a:ext uri="{FF2B5EF4-FFF2-40B4-BE49-F238E27FC236}">
                <a16:creationId xmlns:a16="http://schemas.microsoft.com/office/drawing/2014/main" id="{688D77C2-248A-4B1C-B16E-75A805EA2AE6}"/>
              </a:ext>
            </a:extLst>
          </p:cNvPr>
          <p:cNvSpPr>
            <a:spLocks noGrp="1"/>
          </p:cNvSpPr>
          <p:nvPr/>
        </p:nvSpPr>
        <p:spPr>
          <a:xfrm>
            <a:off x="495300" y="2266950"/>
            <a:ext cx="5905500" cy="514350"/>
          </a:xfrm>
          <a:prstGeom prst="rect">
            <a:avLst/>
          </a:prstGeom>
          <a:noFill/>
          <a:ln w="0">
            <a:noFill/>
            <a:prstDash val="solid"/>
          </a:ln>
        </p:spPr>
        <p:txBody>
          <a:bodyPr anchor="t"/>
          <a:lstStyle/>
          <a:p>
            <a:pPr algn="l">
              <a:defRPr sz="2325" b="0" i="0">
                <a:solidFill>
                  <a:srgbClr val="1C2541"/>
                </a:solidFill>
              </a:defRPr>
            </a:pPr>
            <a:r>
              <a:rPr sz="2325" b="0" i="0">
                <a:solidFill>
                  <a:srgbClr val="1C2541"/>
                </a:solidFill>
              </a:rPr>
              <a:t>IT Asset Management System</a:t>
            </a:r>
          </a:p>
        </p:txBody>
      </p:sp>
      <p:sp>
        <p:nvSpPr>
          <p:cNvPr id="6" name="rule-52-326">
            <a:extLst>
              <a:ext uri="{FF2B5EF4-FFF2-40B4-BE49-F238E27FC236}">
                <a16:creationId xmlns:a16="http://schemas.microsoft.com/office/drawing/2014/main" id="{C485F4B6-685E-4C50-87DB-ECD46D28DC91}"/>
              </a:ext>
            </a:extLst>
          </p:cNvPr>
          <p:cNvSpPr>
            <a:spLocks noGrp="1"/>
          </p:cNvSpPr>
          <p:nvPr/>
        </p:nvSpPr>
        <p:spPr>
          <a:xfrm>
            <a:off x="495300" y="3105150"/>
            <a:ext cx="5429250" cy="57150"/>
          </a:xfrm>
          <a:prstGeom prst="rect">
            <a:avLst/>
          </a:prstGeom>
          <a:solidFill>
            <a:srgbClr val="43E0C1"/>
          </a:solidFill>
          <a:ln w="0">
            <a:noFill/>
            <a:prstDash val="solid"/>
          </a:ln>
        </p:spPr>
        <p:txBody>
          <a:bodyPr/>
          <a:lstStyle/>
          <a:p>
            <a:endParaRPr lang="en-US"/>
          </a:p>
        </p:txBody>
      </p:sp>
      <p:sp>
        <p:nvSpPr>
          <p:cNvPr id="7" name="cover-details">
            <a:extLst>
              <a:ext uri="{FF2B5EF4-FFF2-40B4-BE49-F238E27FC236}">
                <a16:creationId xmlns:a16="http://schemas.microsoft.com/office/drawing/2014/main" id="{8FFD2599-6805-4457-9234-F1C007C99061}"/>
              </a:ext>
            </a:extLst>
          </p:cNvPr>
          <p:cNvSpPr>
            <a:spLocks noGrp="1"/>
          </p:cNvSpPr>
          <p:nvPr/>
        </p:nvSpPr>
        <p:spPr>
          <a:xfrm>
            <a:off x="495300" y="3638550"/>
            <a:ext cx="5524500" cy="1476375"/>
          </a:xfrm>
          <a:prstGeom prst="rect">
            <a:avLst/>
          </a:prstGeom>
          <a:noFill/>
          <a:ln w="0">
            <a:noFill/>
            <a:prstDash val="solid"/>
          </a:ln>
        </p:spPr>
        <p:txBody>
          <a:bodyPr anchor="t"/>
          <a:lstStyle/>
          <a:p>
            <a:pPr algn="l">
              <a:defRPr sz="1575" b="0" i="0">
                <a:solidFill>
                  <a:srgbClr val="596273"/>
                </a:solidFill>
              </a:defRPr>
            </a:pPr>
            <a:r>
              <a:rPr sz="1575" b="0" i="0" dirty="0">
                <a:solidFill>
                  <a:srgbClr val="596273"/>
                </a:solidFill>
              </a:rPr>
              <a:t>Jalen Bryant</a:t>
            </a:r>
          </a:p>
          <a:p>
            <a:pPr algn="l">
              <a:defRPr sz="1575" b="0" i="0">
                <a:solidFill>
                  <a:srgbClr val="596273"/>
                </a:solidFill>
              </a:defRPr>
            </a:pPr>
            <a:r>
              <a:rPr sz="1575" b="0" i="0" dirty="0">
                <a:solidFill>
                  <a:srgbClr val="596273"/>
                </a:solidFill>
              </a:rPr>
              <a:t>SDD-680 · Software Maintenance and Testing</a:t>
            </a:r>
          </a:p>
          <a:p>
            <a:pPr algn="l">
              <a:defRPr sz="1575" b="0" i="0">
                <a:solidFill>
                  <a:srgbClr val="596273"/>
                </a:solidFill>
              </a:defRPr>
            </a:pPr>
            <a:r>
              <a:rPr sz="1575" b="0" i="0">
                <a:solidFill>
                  <a:srgbClr val="596273"/>
                </a:solidFill>
              </a:rPr>
              <a:t>Professor</a:t>
            </a:r>
            <a:r>
              <a:rPr lang="en-US" sz="1575" b="0" i="0">
                <a:solidFill>
                  <a:srgbClr val="596273"/>
                </a:solidFill>
              </a:rPr>
              <a:t>:</a:t>
            </a:r>
            <a:r>
              <a:rPr sz="1575" b="0" i="0">
                <a:solidFill>
                  <a:srgbClr val="596273"/>
                </a:solidFill>
              </a:rPr>
              <a:t> Teresa Peoples</a:t>
            </a:r>
          </a:p>
          <a:p>
            <a:pPr algn="l">
              <a:defRPr sz="1575" b="0" i="0">
                <a:solidFill>
                  <a:srgbClr val="596273"/>
                </a:solidFill>
              </a:defRPr>
            </a:pPr>
            <a:r>
              <a:rPr sz="1575" b="0" i="0" dirty="0">
                <a:solidFill>
                  <a:srgbClr val="596273"/>
                </a:solidFill>
              </a:rPr>
              <a:t>June 25, 2026</a:t>
            </a:r>
          </a:p>
        </p:txBody>
      </p:sp>
      <p:sp>
        <p:nvSpPr>
          <p:cNvPr id="8" name="cover-url">
            <a:extLst>
              <a:ext uri="{FF2B5EF4-FFF2-40B4-BE49-F238E27FC236}">
                <a16:creationId xmlns:a16="http://schemas.microsoft.com/office/drawing/2014/main" id="{400D2F6A-9DB6-4469-9ED5-F7445842EEA6}"/>
              </a:ext>
            </a:extLst>
          </p:cNvPr>
          <p:cNvSpPr>
            <a:spLocks noGrp="1"/>
          </p:cNvSpPr>
          <p:nvPr/>
        </p:nvSpPr>
        <p:spPr>
          <a:xfrm>
            <a:off x="495300" y="5867400"/>
            <a:ext cx="5905500" cy="2857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Production application: https://itams.app/</a:t>
            </a:r>
          </a:p>
        </p:txBody>
      </p:sp>
      <p:sp>
        <p:nvSpPr>
          <p:cNvPr id="9" name="cover-right-wordmark">
            <a:extLst>
              <a:ext uri="{FF2B5EF4-FFF2-40B4-BE49-F238E27FC236}">
                <a16:creationId xmlns:a16="http://schemas.microsoft.com/office/drawing/2014/main" id="{B6F857DB-31E7-4B25-BA0D-13752B95284E}"/>
              </a:ext>
            </a:extLst>
          </p:cNvPr>
          <p:cNvSpPr>
            <a:spLocks noGrp="1"/>
          </p:cNvSpPr>
          <p:nvPr/>
        </p:nvSpPr>
        <p:spPr>
          <a:xfrm>
            <a:off x="7810500" y="1447800"/>
            <a:ext cx="3810000" cy="857250"/>
          </a:xfrm>
          <a:prstGeom prst="rect">
            <a:avLst/>
          </a:prstGeom>
          <a:noFill/>
          <a:ln w="0">
            <a:noFill/>
            <a:prstDash val="solid"/>
          </a:ln>
        </p:spPr>
        <p:txBody>
          <a:bodyPr anchor="t"/>
          <a:lstStyle/>
          <a:p>
            <a:pPr algn="ctr">
              <a:defRPr sz="4950" b="1" i="0">
                <a:solidFill>
                  <a:srgbClr val="FFFFFF"/>
                </a:solidFill>
              </a:defRPr>
            </a:pPr>
            <a:r>
              <a:rPr sz="4950" b="1" i="0">
                <a:solidFill>
                  <a:srgbClr val="FFFFFF"/>
                </a:solidFill>
              </a:rPr>
              <a:t>ITAMS</a:t>
            </a:r>
          </a:p>
        </p:txBody>
      </p:sp>
      <p:sp>
        <p:nvSpPr>
          <p:cNvPr id="10" name="rule-910-270">
            <a:extLst>
              <a:ext uri="{FF2B5EF4-FFF2-40B4-BE49-F238E27FC236}">
                <a16:creationId xmlns:a16="http://schemas.microsoft.com/office/drawing/2014/main" id="{39D4362E-A016-47CD-BF59-CF198792271A}"/>
              </a:ext>
            </a:extLst>
          </p:cNvPr>
          <p:cNvSpPr>
            <a:spLocks noGrp="1"/>
          </p:cNvSpPr>
          <p:nvPr/>
        </p:nvSpPr>
        <p:spPr>
          <a:xfrm>
            <a:off x="8667750" y="2571750"/>
            <a:ext cx="2095500" cy="57150"/>
          </a:xfrm>
          <a:prstGeom prst="rect">
            <a:avLst/>
          </a:prstGeom>
          <a:solidFill>
            <a:srgbClr val="43E0C1"/>
          </a:solidFill>
          <a:ln w="0">
            <a:noFill/>
            <a:prstDash val="solid"/>
          </a:ln>
        </p:spPr>
        <p:txBody>
          <a:bodyPr/>
          <a:lstStyle/>
          <a:p>
            <a:endParaRPr lang="en-US"/>
          </a:p>
        </p:txBody>
      </p:sp>
      <p:sp>
        <p:nvSpPr>
          <p:cNvPr id="11" name="cover-tagline">
            <a:extLst>
              <a:ext uri="{FF2B5EF4-FFF2-40B4-BE49-F238E27FC236}">
                <a16:creationId xmlns:a16="http://schemas.microsoft.com/office/drawing/2014/main" id="{EC12805B-4C23-45FD-A3D2-AE037CFFBD2F}"/>
              </a:ext>
            </a:extLst>
          </p:cNvPr>
          <p:cNvSpPr>
            <a:spLocks noGrp="1"/>
          </p:cNvSpPr>
          <p:nvPr/>
        </p:nvSpPr>
        <p:spPr>
          <a:xfrm>
            <a:off x="7810500" y="3219450"/>
            <a:ext cx="3619500" cy="1095375"/>
          </a:xfrm>
          <a:prstGeom prst="rect">
            <a:avLst/>
          </a:prstGeom>
          <a:noFill/>
          <a:ln w="0">
            <a:noFill/>
            <a:prstDash val="solid"/>
          </a:ln>
        </p:spPr>
        <p:txBody>
          <a:bodyPr anchor="t"/>
          <a:lstStyle/>
          <a:p>
            <a:pPr algn="ctr">
              <a:defRPr sz="2250" b="1" i="0">
                <a:solidFill>
                  <a:srgbClr val="FFFFFF"/>
                </a:solidFill>
              </a:defRPr>
            </a:pPr>
            <a:r>
              <a:rPr sz="2250" b="1" i="0">
                <a:solidFill>
                  <a:srgbClr val="FFFFFF"/>
                </a:solidFill>
              </a:rPr>
              <a:t>Trace every asset from intake to retirement.</a:t>
            </a:r>
          </a:p>
        </p:txBody>
      </p:sp>
      <p:sp>
        <p:nvSpPr>
          <p:cNvPr id="12" name="cover-right-detail">
            <a:extLst>
              <a:ext uri="{FF2B5EF4-FFF2-40B4-BE49-F238E27FC236}">
                <a16:creationId xmlns:a16="http://schemas.microsoft.com/office/drawing/2014/main" id="{FB2DABC2-59C0-41B2-8084-3B11182794FD}"/>
              </a:ext>
            </a:extLst>
          </p:cNvPr>
          <p:cNvSpPr>
            <a:spLocks noGrp="1"/>
          </p:cNvSpPr>
          <p:nvPr/>
        </p:nvSpPr>
        <p:spPr>
          <a:xfrm>
            <a:off x="8001000" y="4762500"/>
            <a:ext cx="3238500" cy="857250"/>
          </a:xfrm>
          <a:prstGeom prst="rect">
            <a:avLst/>
          </a:prstGeom>
          <a:noFill/>
          <a:ln w="0">
            <a:noFill/>
            <a:prstDash val="solid"/>
          </a:ln>
        </p:spPr>
        <p:txBody>
          <a:bodyPr anchor="t"/>
          <a:lstStyle/>
          <a:p>
            <a:pPr algn="ctr">
              <a:defRPr sz="1425" b="0" i="0">
                <a:solidFill>
                  <a:srgbClr val="FFFFFF"/>
                </a:solidFill>
              </a:defRPr>
            </a:pPr>
            <a:r>
              <a:rPr sz="1425" b="0" i="0">
                <a:solidFill>
                  <a:srgbClr val="FFFFFF"/>
                </a:solidFill>
              </a:rPr>
              <a:t>Production-ready web application</a:t>
            </a:r>
          </a:p>
          <a:p>
            <a:pPr algn="ctr"/>
            <a:r>
              <a:rPr sz="1425" b="0" i="0">
                <a:solidFill>
                  <a:srgbClr val="FFFFFF"/>
                </a:solidFill>
              </a:rPr>
              <a:t>with aligned documentation, testing, and handoff evidence</a:t>
            </a:r>
          </a:p>
        </p:txBody>
      </p:sp>
      <p:sp>
        <p:nvSpPr>
          <p:cNvPr id="13" name="footer-number-1">
            <a:extLst>
              <a:ext uri="{FF2B5EF4-FFF2-40B4-BE49-F238E27FC236}">
                <a16:creationId xmlns:a16="http://schemas.microsoft.com/office/drawing/2014/main" id="{F46CD9B6-8F9E-468A-BBB1-A522DF0A4528}"/>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FFFFFF"/>
                </a:solidFill>
              </a:defRPr>
            </a:pPr>
            <a:r>
              <a:rPr sz="1050" b="0" i="0">
                <a:solidFill>
                  <a:srgbClr val="FFFFFF"/>
                </a:solidFill>
              </a:rPr>
              <a:t>1</a:t>
            </a:r>
          </a:p>
        </p:txBody>
      </p:sp>
    </p:spTree>
    <p:extLst>
      <p:ext uri="{BB962C8B-B14F-4D97-AF65-F5344CB8AC3E}">
        <p14:creationId xmlns:p14="http://schemas.microsoft.com/office/powerpoint/2010/main" val="1730471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agenda-eyebrow">
            <a:extLst>
              <a:ext uri="{FF2B5EF4-FFF2-40B4-BE49-F238E27FC236}">
                <a16:creationId xmlns:a16="http://schemas.microsoft.com/office/drawing/2014/main" id="{F69B4681-1EE8-46B2-8470-CF5110FB5864}"/>
              </a:ext>
            </a:extLst>
          </p:cNvPr>
          <p:cNvSpPr>
            <a:spLocks noGrp="1"/>
          </p:cNvSpPr>
          <p:nvPr/>
        </p:nvSpPr>
        <p:spPr>
          <a:xfrm>
            <a:off x="400050" y="361950"/>
            <a:ext cx="3048000" cy="24765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PRESENTATION ROADMAP</a:t>
            </a:r>
          </a:p>
        </p:txBody>
      </p:sp>
      <p:sp>
        <p:nvSpPr>
          <p:cNvPr id="2" name="agenda-title">
            <a:extLst>
              <a:ext uri="{FF2B5EF4-FFF2-40B4-BE49-F238E27FC236}">
                <a16:creationId xmlns:a16="http://schemas.microsoft.com/office/drawing/2014/main" id="{9FC3EDDA-1F26-4922-B059-9C1F50AAFE54}"/>
              </a:ext>
            </a:extLst>
          </p:cNvPr>
          <p:cNvSpPr>
            <a:spLocks noGrp="1"/>
          </p:cNvSpPr>
          <p:nvPr/>
        </p:nvSpPr>
        <p:spPr>
          <a:xfrm>
            <a:off x="400050" y="876300"/>
            <a:ext cx="4762500" cy="1571625"/>
          </a:xfrm>
          <a:prstGeom prst="rect">
            <a:avLst/>
          </a:prstGeom>
          <a:noFill/>
          <a:ln w="0">
            <a:noFill/>
            <a:prstDash val="solid"/>
          </a:ln>
        </p:spPr>
        <p:txBody>
          <a:bodyPr anchor="t"/>
          <a:lstStyle/>
          <a:p>
            <a:pPr algn="l">
              <a:defRPr sz="3600" b="1" i="0">
                <a:solidFill>
                  <a:srgbClr val="0B132B"/>
                </a:solidFill>
              </a:defRPr>
            </a:pPr>
            <a:r>
              <a:rPr sz="3600" b="1" i="0">
                <a:solidFill>
                  <a:srgbClr val="0B132B"/>
                </a:solidFill>
              </a:rPr>
              <a:t>From business need to</a:t>
            </a:r>
          </a:p>
          <a:p>
            <a:pPr algn="l"/>
            <a:r>
              <a:rPr sz="3600" b="1" i="0">
                <a:solidFill>
                  <a:srgbClr val="0B132B"/>
                </a:solidFill>
              </a:rPr>
              <a:t>production evidence</a:t>
            </a:r>
          </a:p>
        </p:txBody>
      </p:sp>
      <p:sp>
        <p:nvSpPr>
          <p:cNvPr id="3" name="agenda-description">
            <a:extLst>
              <a:ext uri="{FF2B5EF4-FFF2-40B4-BE49-F238E27FC236}">
                <a16:creationId xmlns:a16="http://schemas.microsoft.com/office/drawing/2014/main" id="{3FE78B0D-5908-4378-887F-78624EA5B88F}"/>
              </a:ext>
            </a:extLst>
          </p:cNvPr>
          <p:cNvSpPr>
            <a:spLocks noGrp="1"/>
          </p:cNvSpPr>
          <p:nvPr/>
        </p:nvSpPr>
        <p:spPr>
          <a:xfrm>
            <a:off x="400050" y="2857500"/>
            <a:ext cx="4476750" cy="1047750"/>
          </a:xfrm>
          <a:prstGeom prst="rect">
            <a:avLst/>
          </a:prstGeom>
          <a:noFill/>
          <a:ln w="0">
            <a:noFill/>
            <a:prstDash val="solid"/>
          </a:ln>
        </p:spPr>
        <p:txBody>
          <a:bodyPr anchor="t"/>
          <a:lstStyle/>
          <a:p>
            <a:pPr algn="l">
              <a:defRPr sz="1650" b="0" i="0">
                <a:solidFill>
                  <a:srgbClr val="596273"/>
                </a:solidFill>
              </a:defRPr>
            </a:pPr>
            <a:r>
              <a:rPr sz="1650" b="0" i="0">
                <a:solidFill>
                  <a:srgbClr val="596273"/>
                </a:solidFill>
              </a:rPr>
              <a:t>A focused walkthrough of the completed system, final validation results, and Milestone 5 submission evidence.</a:t>
            </a:r>
          </a:p>
        </p:txBody>
      </p:sp>
      <p:sp>
        <p:nvSpPr>
          <p:cNvPr id="4" name="agenda-number-01">
            <a:extLst>
              <a:ext uri="{FF2B5EF4-FFF2-40B4-BE49-F238E27FC236}">
                <a16:creationId xmlns:a16="http://schemas.microsoft.com/office/drawing/2014/main" id="{157FBAFB-D822-437A-ACCC-22C446CF6288}"/>
              </a:ext>
            </a:extLst>
          </p:cNvPr>
          <p:cNvSpPr>
            <a:spLocks noGrp="1"/>
          </p:cNvSpPr>
          <p:nvPr/>
        </p:nvSpPr>
        <p:spPr>
          <a:xfrm>
            <a:off x="6191250" y="800100"/>
            <a:ext cx="476250" cy="3619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01</a:t>
            </a:r>
          </a:p>
        </p:txBody>
      </p:sp>
      <p:sp>
        <p:nvSpPr>
          <p:cNvPr id="5" name="agenda-item-01">
            <a:extLst>
              <a:ext uri="{FF2B5EF4-FFF2-40B4-BE49-F238E27FC236}">
                <a16:creationId xmlns:a16="http://schemas.microsoft.com/office/drawing/2014/main" id="{2DDA0F7B-86ED-4AB5-8833-E448AB415D9E}"/>
              </a:ext>
            </a:extLst>
          </p:cNvPr>
          <p:cNvSpPr>
            <a:spLocks noGrp="1"/>
          </p:cNvSpPr>
          <p:nvPr/>
        </p:nvSpPr>
        <p:spPr>
          <a:xfrm>
            <a:off x="6858000" y="752475"/>
            <a:ext cx="4572000" cy="457200"/>
          </a:xfrm>
          <a:prstGeom prst="rect">
            <a:avLst/>
          </a:prstGeom>
          <a:noFill/>
          <a:ln w="0">
            <a:noFill/>
            <a:prstDash val="solid"/>
          </a:ln>
        </p:spPr>
        <p:txBody>
          <a:bodyPr anchor="t"/>
          <a:lstStyle/>
          <a:p>
            <a:pPr algn="l">
              <a:defRPr sz="2100" b="1" i="0">
                <a:solidFill>
                  <a:srgbClr val="0B132B"/>
                </a:solidFill>
              </a:defRPr>
            </a:pPr>
            <a:r>
              <a:rPr sz="2100" b="1" i="0">
                <a:solidFill>
                  <a:srgbClr val="0B132B"/>
                </a:solidFill>
              </a:rPr>
              <a:t>Problem and completed solution</a:t>
            </a:r>
          </a:p>
        </p:txBody>
      </p:sp>
      <p:sp>
        <p:nvSpPr>
          <p:cNvPr id="6" name="rule-650-136">
            <a:extLst>
              <a:ext uri="{FF2B5EF4-FFF2-40B4-BE49-F238E27FC236}">
                <a16:creationId xmlns:a16="http://schemas.microsoft.com/office/drawing/2014/main" id="{B230407D-C308-4405-8887-ECE51349560E}"/>
              </a:ext>
            </a:extLst>
          </p:cNvPr>
          <p:cNvSpPr>
            <a:spLocks noGrp="1"/>
          </p:cNvSpPr>
          <p:nvPr/>
        </p:nvSpPr>
        <p:spPr>
          <a:xfrm>
            <a:off x="6191250" y="1295400"/>
            <a:ext cx="5238750" cy="9525"/>
          </a:xfrm>
          <a:prstGeom prst="rect">
            <a:avLst/>
          </a:prstGeom>
          <a:solidFill>
            <a:srgbClr val="B8BCC4"/>
          </a:solidFill>
          <a:ln w="0">
            <a:noFill/>
            <a:prstDash val="solid"/>
          </a:ln>
        </p:spPr>
        <p:txBody>
          <a:bodyPr/>
          <a:lstStyle/>
          <a:p>
            <a:endParaRPr lang="en-US"/>
          </a:p>
        </p:txBody>
      </p:sp>
      <p:sp>
        <p:nvSpPr>
          <p:cNvPr id="7" name="agenda-number-02">
            <a:extLst>
              <a:ext uri="{FF2B5EF4-FFF2-40B4-BE49-F238E27FC236}">
                <a16:creationId xmlns:a16="http://schemas.microsoft.com/office/drawing/2014/main" id="{C7FF848D-E289-44C3-A4EF-196059187409}"/>
              </a:ext>
            </a:extLst>
          </p:cNvPr>
          <p:cNvSpPr>
            <a:spLocks noGrp="1"/>
          </p:cNvSpPr>
          <p:nvPr/>
        </p:nvSpPr>
        <p:spPr>
          <a:xfrm>
            <a:off x="6191250" y="1800225"/>
            <a:ext cx="476250" cy="3619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02</a:t>
            </a:r>
          </a:p>
        </p:txBody>
      </p:sp>
      <p:sp>
        <p:nvSpPr>
          <p:cNvPr id="8" name="agenda-item-02">
            <a:extLst>
              <a:ext uri="{FF2B5EF4-FFF2-40B4-BE49-F238E27FC236}">
                <a16:creationId xmlns:a16="http://schemas.microsoft.com/office/drawing/2014/main" id="{EE79CDB4-0C7A-43C5-A166-6ABC2D7A766F}"/>
              </a:ext>
            </a:extLst>
          </p:cNvPr>
          <p:cNvSpPr>
            <a:spLocks noGrp="1"/>
          </p:cNvSpPr>
          <p:nvPr/>
        </p:nvSpPr>
        <p:spPr>
          <a:xfrm>
            <a:off x="6858000" y="1752600"/>
            <a:ext cx="4572000" cy="457200"/>
          </a:xfrm>
          <a:prstGeom prst="rect">
            <a:avLst/>
          </a:prstGeom>
          <a:noFill/>
          <a:ln w="0">
            <a:noFill/>
            <a:prstDash val="solid"/>
          </a:ln>
        </p:spPr>
        <p:txBody>
          <a:bodyPr anchor="t"/>
          <a:lstStyle/>
          <a:p>
            <a:pPr algn="l">
              <a:defRPr sz="2100" b="1" i="0">
                <a:solidFill>
                  <a:srgbClr val="0B132B"/>
                </a:solidFill>
              </a:defRPr>
            </a:pPr>
            <a:r>
              <a:rPr sz="2100" b="1" i="0">
                <a:solidFill>
                  <a:srgbClr val="0B132B"/>
                </a:solidFill>
              </a:rPr>
              <a:t>Architecture and functionality</a:t>
            </a:r>
          </a:p>
        </p:txBody>
      </p:sp>
      <p:sp>
        <p:nvSpPr>
          <p:cNvPr id="9" name="rule-650-241">
            <a:extLst>
              <a:ext uri="{FF2B5EF4-FFF2-40B4-BE49-F238E27FC236}">
                <a16:creationId xmlns:a16="http://schemas.microsoft.com/office/drawing/2014/main" id="{749EA7C9-7FFA-431B-9E3A-63CCF68A2BB4}"/>
              </a:ext>
            </a:extLst>
          </p:cNvPr>
          <p:cNvSpPr>
            <a:spLocks noGrp="1"/>
          </p:cNvSpPr>
          <p:nvPr/>
        </p:nvSpPr>
        <p:spPr>
          <a:xfrm>
            <a:off x="6191250" y="2295525"/>
            <a:ext cx="5238750" cy="9525"/>
          </a:xfrm>
          <a:prstGeom prst="rect">
            <a:avLst/>
          </a:prstGeom>
          <a:solidFill>
            <a:srgbClr val="B8BCC4"/>
          </a:solidFill>
          <a:ln w="0">
            <a:noFill/>
            <a:prstDash val="solid"/>
          </a:ln>
        </p:spPr>
        <p:txBody>
          <a:bodyPr/>
          <a:lstStyle/>
          <a:p>
            <a:endParaRPr lang="en-US"/>
          </a:p>
        </p:txBody>
      </p:sp>
      <p:sp>
        <p:nvSpPr>
          <p:cNvPr id="10" name="agenda-number-03">
            <a:extLst>
              <a:ext uri="{FF2B5EF4-FFF2-40B4-BE49-F238E27FC236}">
                <a16:creationId xmlns:a16="http://schemas.microsoft.com/office/drawing/2014/main" id="{BA6B4C91-31B1-4CEA-979F-3984C3FDBE90}"/>
              </a:ext>
            </a:extLst>
          </p:cNvPr>
          <p:cNvSpPr>
            <a:spLocks noGrp="1"/>
          </p:cNvSpPr>
          <p:nvPr/>
        </p:nvSpPr>
        <p:spPr>
          <a:xfrm>
            <a:off x="6191250" y="2800350"/>
            <a:ext cx="476250" cy="3619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03</a:t>
            </a:r>
          </a:p>
        </p:txBody>
      </p:sp>
      <p:sp>
        <p:nvSpPr>
          <p:cNvPr id="11" name="agenda-item-03">
            <a:extLst>
              <a:ext uri="{FF2B5EF4-FFF2-40B4-BE49-F238E27FC236}">
                <a16:creationId xmlns:a16="http://schemas.microsoft.com/office/drawing/2014/main" id="{C51F016A-8745-48F8-A886-F069135A1151}"/>
              </a:ext>
            </a:extLst>
          </p:cNvPr>
          <p:cNvSpPr>
            <a:spLocks noGrp="1"/>
          </p:cNvSpPr>
          <p:nvPr/>
        </p:nvSpPr>
        <p:spPr>
          <a:xfrm>
            <a:off x="6858000" y="2752725"/>
            <a:ext cx="4572000" cy="457200"/>
          </a:xfrm>
          <a:prstGeom prst="rect">
            <a:avLst/>
          </a:prstGeom>
          <a:noFill/>
          <a:ln w="0">
            <a:noFill/>
            <a:prstDash val="solid"/>
          </a:ln>
        </p:spPr>
        <p:txBody>
          <a:bodyPr anchor="t"/>
          <a:lstStyle/>
          <a:p>
            <a:pPr algn="l">
              <a:defRPr sz="2100" b="1" i="0">
                <a:solidFill>
                  <a:srgbClr val="0B132B"/>
                </a:solidFill>
              </a:defRPr>
            </a:pPr>
            <a:r>
              <a:rPr sz="2100" b="1" i="0">
                <a:solidFill>
                  <a:srgbClr val="0B132B"/>
                </a:solidFill>
              </a:rPr>
              <a:t>Security and live demonstration</a:t>
            </a:r>
          </a:p>
        </p:txBody>
      </p:sp>
      <p:sp>
        <p:nvSpPr>
          <p:cNvPr id="12" name="rule-650-346">
            <a:extLst>
              <a:ext uri="{FF2B5EF4-FFF2-40B4-BE49-F238E27FC236}">
                <a16:creationId xmlns:a16="http://schemas.microsoft.com/office/drawing/2014/main" id="{DBAC6955-9C82-4768-8B3F-393DE347C3C5}"/>
              </a:ext>
            </a:extLst>
          </p:cNvPr>
          <p:cNvSpPr>
            <a:spLocks noGrp="1"/>
          </p:cNvSpPr>
          <p:nvPr/>
        </p:nvSpPr>
        <p:spPr>
          <a:xfrm>
            <a:off x="6191250" y="3295650"/>
            <a:ext cx="5238750" cy="9525"/>
          </a:xfrm>
          <a:prstGeom prst="rect">
            <a:avLst/>
          </a:prstGeom>
          <a:solidFill>
            <a:srgbClr val="B8BCC4"/>
          </a:solidFill>
          <a:ln w="0">
            <a:noFill/>
            <a:prstDash val="solid"/>
          </a:ln>
        </p:spPr>
        <p:txBody>
          <a:bodyPr/>
          <a:lstStyle/>
          <a:p>
            <a:endParaRPr lang="en-US"/>
          </a:p>
        </p:txBody>
      </p:sp>
      <p:sp>
        <p:nvSpPr>
          <p:cNvPr id="13" name="agenda-number-04">
            <a:extLst>
              <a:ext uri="{FF2B5EF4-FFF2-40B4-BE49-F238E27FC236}">
                <a16:creationId xmlns:a16="http://schemas.microsoft.com/office/drawing/2014/main" id="{04C5D87C-2B99-46AC-9564-86B744510206}"/>
              </a:ext>
            </a:extLst>
          </p:cNvPr>
          <p:cNvSpPr>
            <a:spLocks noGrp="1"/>
          </p:cNvSpPr>
          <p:nvPr/>
        </p:nvSpPr>
        <p:spPr>
          <a:xfrm>
            <a:off x="6191250" y="3800475"/>
            <a:ext cx="476250" cy="3619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04</a:t>
            </a:r>
          </a:p>
        </p:txBody>
      </p:sp>
      <p:sp>
        <p:nvSpPr>
          <p:cNvPr id="14" name="agenda-item-04">
            <a:extLst>
              <a:ext uri="{FF2B5EF4-FFF2-40B4-BE49-F238E27FC236}">
                <a16:creationId xmlns:a16="http://schemas.microsoft.com/office/drawing/2014/main" id="{8D4570EF-79E7-435B-8FCA-EF81204A495A}"/>
              </a:ext>
            </a:extLst>
          </p:cNvPr>
          <p:cNvSpPr>
            <a:spLocks noGrp="1"/>
          </p:cNvSpPr>
          <p:nvPr/>
        </p:nvSpPr>
        <p:spPr>
          <a:xfrm>
            <a:off x="6858000" y="3752850"/>
            <a:ext cx="4572000" cy="457200"/>
          </a:xfrm>
          <a:prstGeom prst="rect">
            <a:avLst/>
          </a:prstGeom>
          <a:noFill/>
          <a:ln w="0">
            <a:noFill/>
            <a:prstDash val="solid"/>
          </a:ln>
        </p:spPr>
        <p:txBody>
          <a:bodyPr anchor="t"/>
          <a:lstStyle/>
          <a:p>
            <a:pPr algn="l">
              <a:defRPr sz="2100" b="1" i="0">
                <a:solidFill>
                  <a:srgbClr val="0B132B"/>
                </a:solidFill>
              </a:defRPr>
            </a:pPr>
            <a:r>
              <a:rPr sz="2100" b="1" i="0">
                <a:solidFill>
                  <a:srgbClr val="0B132B"/>
                </a:solidFill>
              </a:rPr>
              <a:t>Traceability and test evidence</a:t>
            </a:r>
          </a:p>
        </p:txBody>
      </p:sp>
      <p:sp>
        <p:nvSpPr>
          <p:cNvPr id="15" name="rule-650-451">
            <a:extLst>
              <a:ext uri="{FF2B5EF4-FFF2-40B4-BE49-F238E27FC236}">
                <a16:creationId xmlns:a16="http://schemas.microsoft.com/office/drawing/2014/main" id="{B1ED8879-6364-4501-ADE2-E1E9C3C78542}"/>
              </a:ext>
            </a:extLst>
          </p:cNvPr>
          <p:cNvSpPr>
            <a:spLocks noGrp="1"/>
          </p:cNvSpPr>
          <p:nvPr/>
        </p:nvSpPr>
        <p:spPr>
          <a:xfrm>
            <a:off x="6191250" y="4295775"/>
            <a:ext cx="5238750" cy="9525"/>
          </a:xfrm>
          <a:prstGeom prst="rect">
            <a:avLst/>
          </a:prstGeom>
          <a:solidFill>
            <a:srgbClr val="B8BCC4"/>
          </a:solidFill>
          <a:ln w="0">
            <a:noFill/>
            <a:prstDash val="solid"/>
          </a:ln>
        </p:spPr>
        <p:txBody>
          <a:bodyPr/>
          <a:lstStyle/>
          <a:p>
            <a:endParaRPr lang="en-US"/>
          </a:p>
        </p:txBody>
      </p:sp>
      <p:sp>
        <p:nvSpPr>
          <p:cNvPr id="16" name="agenda-number-05">
            <a:extLst>
              <a:ext uri="{FF2B5EF4-FFF2-40B4-BE49-F238E27FC236}">
                <a16:creationId xmlns:a16="http://schemas.microsoft.com/office/drawing/2014/main" id="{D40B3D41-9241-466D-8917-8344F6F6BB5F}"/>
              </a:ext>
            </a:extLst>
          </p:cNvPr>
          <p:cNvSpPr>
            <a:spLocks noGrp="1"/>
          </p:cNvSpPr>
          <p:nvPr/>
        </p:nvSpPr>
        <p:spPr>
          <a:xfrm>
            <a:off x="6191250" y="4800600"/>
            <a:ext cx="476250" cy="3619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05</a:t>
            </a:r>
          </a:p>
        </p:txBody>
      </p:sp>
      <p:sp>
        <p:nvSpPr>
          <p:cNvPr id="17" name="agenda-item-05">
            <a:extLst>
              <a:ext uri="{FF2B5EF4-FFF2-40B4-BE49-F238E27FC236}">
                <a16:creationId xmlns:a16="http://schemas.microsoft.com/office/drawing/2014/main" id="{A4C6DF0A-FCA4-4591-98DE-4C70D36B9DDC}"/>
              </a:ext>
            </a:extLst>
          </p:cNvPr>
          <p:cNvSpPr>
            <a:spLocks noGrp="1"/>
          </p:cNvSpPr>
          <p:nvPr/>
        </p:nvSpPr>
        <p:spPr>
          <a:xfrm>
            <a:off x="6858000" y="4752975"/>
            <a:ext cx="4572000" cy="457200"/>
          </a:xfrm>
          <a:prstGeom prst="rect">
            <a:avLst/>
          </a:prstGeom>
          <a:noFill/>
          <a:ln w="0">
            <a:noFill/>
            <a:prstDash val="solid"/>
          </a:ln>
        </p:spPr>
        <p:txBody>
          <a:bodyPr anchor="t"/>
          <a:lstStyle/>
          <a:p>
            <a:pPr algn="l">
              <a:defRPr sz="2100" b="1" i="0">
                <a:solidFill>
                  <a:srgbClr val="0B132B"/>
                </a:solidFill>
              </a:defRPr>
            </a:pPr>
            <a:r>
              <a:rPr sz="2100" b="1" i="0">
                <a:solidFill>
                  <a:srgbClr val="0B132B"/>
                </a:solidFill>
              </a:rPr>
              <a:t>Deployment, risks, and conclusion</a:t>
            </a:r>
          </a:p>
        </p:txBody>
      </p:sp>
      <p:sp>
        <p:nvSpPr>
          <p:cNvPr id="18" name="rule-650-556">
            <a:extLst>
              <a:ext uri="{FF2B5EF4-FFF2-40B4-BE49-F238E27FC236}">
                <a16:creationId xmlns:a16="http://schemas.microsoft.com/office/drawing/2014/main" id="{DDC3DBB5-0430-4669-9744-63CAFFAC6D94}"/>
              </a:ext>
            </a:extLst>
          </p:cNvPr>
          <p:cNvSpPr>
            <a:spLocks noGrp="1"/>
          </p:cNvSpPr>
          <p:nvPr/>
        </p:nvSpPr>
        <p:spPr>
          <a:xfrm>
            <a:off x="6191250" y="5295900"/>
            <a:ext cx="5238750" cy="9525"/>
          </a:xfrm>
          <a:prstGeom prst="rect">
            <a:avLst/>
          </a:prstGeom>
          <a:solidFill>
            <a:srgbClr val="B8BCC4"/>
          </a:solidFill>
          <a:ln w="0">
            <a:noFill/>
            <a:prstDash val="solid"/>
          </a:ln>
        </p:spPr>
        <p:txBody>
          <a:bodyPr/>
          <a:lstStyle/>
          <a:p>
            <a:endParaRPr lang="en-US"/>
          </a:p>
        </p:txBody>
      </p:sp>
      <p:sp>
        <p:nvSpPr>
          <p:cNvPr id="19" name="footer-label-2">
            <a:extLst>
              <a:ext uri="{FF2B5EF4-FFF2-40B4-BE49-F238E27FC236}">
                <a16:creationId xmlns:a16="http://schemas.microsoft.com/office/drawing/2014/main" id="{53B94FD5-5EB2-47AE-96B3-2F6631364C07}"/>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20" name="footer-number-2">
            <a:extLst>
              <a:ext uri="{FF2B5EF4-FFF2-40B4-BE49-F238E27FC236}">
                <a16:creationId xmlns:a16="http://schemas.microsoft.com/office/drawing/2014/main" id="{8678E6F0-5A58-4547-85AE-698BC32CF9C4}"/>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2</a:t>
            </a:r>
          </a:p>
        </p:txBody>
      </p:sp>
    </p:spTree>
    <p:extLst>
      <p:ext uri="{BB962C8B-B14F-4D97-AF65-F5344CB8AC3E}">
        <p14:creationId xmlns:p14="http://schemas.microsoft.com/office/powerpoint/2010/main" val="1063887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ection-3">
            <a:extLst>
              <a:ext uri="{FF2B5EF4-FFF2-40B4-BE49-F238E27FC236}">
                <a16:creationId xmlns:a16="http://schemas.microsoft.com/office/drawing/2014/main" id="{0EF2160B-0DB7-471D-97D9-4E01ECA58CE8}"/>
              </a:ext>
            </a:extLst>
          </p:cNvPr>
          <p:cNvSpPr>
            <a:spLocks noGrp="1"/>
          </p:cNvSpPr>
          <p:nvPr/>
        </p:nvSpPr>
        <p:spPr>
          <a:xfrm>
            <a:off x="400050" y="323850"/>
            <a:ext cx="2857500" cy="22860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PROJECT PURPOSE</a:t>
            </a:r>
          </a:p>
        </p:txBody>
      </p:sp>
      <p:sp>
        <p:nvSpPr>
          <p:cNvPr id="2" name="title-3">
            <a:extLst>
              <a:ext uri="{FF2B5EF4-FFF2-40B4-BE49-F238E27FC236}">
                <a16:creationId xmlns:a16="http://schemas.microsoft.com/office/drawing/2014/main" id="{1286813D-EB90-4587-9AA1-FE5B9BEEB1F6}"/>
              </a:ext>
            </a:extLst>
          </p:cNvPr>
          <p:cNvSpPr>
            <a:spLocks noGrp="1"/>
          </p:cNvSpPr>
          <p:nvPr/>
        </p:nvSpPr>
        <p:spPr>
          <a:xfrm>
            <a:off x="400050" y="628650"/>
            <a:ext cx="10839450" cy="628650"/>
          </a:xfrm>
          <a:prstGeom prst="rect">
            <a:avLst/>
          </a:prstGeom>
          <a:noFill/>
          <a:ln w="0">
            <a:noFill/>
            <a:prstDash val="solid"/>
          </a:ln>
        </p:spPr>
        <p:txBody>
          <a:bodyPr anchor="t"/>
          <a:lstStyle/>
          <a:p>
            <a:pPr algn="l">
              <a:defRPr sz="3225" b="1" i="0">
                <a:solidFill>
                  <a:srgbClr val="0B132B"/>
                </a:solidFill>
              </a:defRPr>
            </a:pPr>
            <a:r>
              <a:rPr sz="3225" b="1" i="0">
                <a:solidFill>
                  <a:srgbClr val="0B132B"/>
                </a:solidFill>
              </a:rPr>
              <a:t>From fragmented tracking to controlled asset management</a:t>
            </a:r>
          </a:p>
        </p:txBody>
      </p:sp>
      <p:sp>
        <p:nvSpPr>
          <p:cNvPr id="3" name="rule-42-142">
            <a:extLst>
              <a:ext uri="{FF2B5EF4-FFF2-40B4-BE49-F238E27FC236}">
                <a16:creationId xmlns:a16="http://schemas.microsoft.com/office/drawing/2014/main" id="{539CED6B-B6FB-4206-80F4-E0046DE7C848}"/>
              </a:ext>
            </a:extLst>
          </p:cNvPr>
          <p:cNvSpPr>
            <a:spLocks noGrp="1"/>
          </p:cNvSpPr>
          <p:nvPr/>
        </p:nvSpPr>
        <p:spPr>
          <a:xfrm>
            <a:off x="400050" y="1352550"/>
            <a:ext cx="11391900" cy="19050"/>
          </a:xfrm>
          <a:prstGeom prst="rect">
            <a:avLst/>
          </a:prstGeom>
          <a:solidFill>
            <a:srgbClr val="0B132B"/>
          </a:solidFill>
          <a:ln w="0">
            <a:noFill/>
            <a:prstDash val="solid"/>
          </a:ln>
        </p:spPr>
        <p:txBody>
          <a:bodyPr/>
          <a:lstStyle/>
          <a:p>
            <a:endParaRPr lang="en-US"/>
          </a:p>
        </p:txBody>
      </p:sp>
      <p:sp>
        <p:nvSpPr>
          <p:cNvPr id="4" name="footer-label-3">
            <a:extLst>
              <a:ext uri="{FF2B5EF4-FFF2-40B4-BE49-F238E27FC236}">
                <a16:creationId xmlns:a16="http://schemas.microsoft.com/office/drawing/2014/main" id="{EC1DB6A4-735C-4F85-B2CA-773E11C0C1A6}"/>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5" name="footer-number-3">
            <a:extLst>
              <a:ext uri="{FF2B5EF4-FFF2-40B4-BE49-F238E27FC236}">
                <a16:creationId xmlns:a16="http://schemas.microsoft.com/office/drawing/2014/main" id="{44E46C81-0B13-4240-A4CA-AEDA5C0D1243}"/>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3</a:t>
            </a:r>
          </a:p>
        </p:txBody>
      </p:sp>
      <p:sp>
        <p:nvSpPr>
          <p:cNvPr id="6" name="before-label">
            <a:extLst>
              <a:ext uri="{FF2B5EF4-FFF2-40B4-BE49-F238E27FC236}">
                <a16:creationId xmlns:a16="http://schemas.microsoft.com/office/drawing/2014/main" id="{138B58DD-1CA2-4C65-8E2E-3D30FAC980CE}"/>
              </a:ext>
            </a:extLst>
          </p:cNvPr>
          <p:cNvSpPr>
            <a:spLocks noGrp="1"/>
          </p:cNvSpPr>
          <p:nvPr/>
        </p:nvSpPr>
        <p:spPr>
          <a:xfrm>
            <a:off x="609600" y="1809750"/>
            <a:ext cx="4286250" cy="285750"/>
          </a:xfrm>
          <a:prstGeom prst="rect">
            <a:avLst/>
          </a:prstGeom>
          <a:noFill/>
          <a:ln w="0">
            <a:noFill/>
            <a:prstDash val="solid"/>
          </a:ln>
        </p:spPr>
        <p:txBody>
          <a:bodyPr anchor="t"/>
          <a:lstStyle/>
          <a:p>
            <a:pPr algn="l">
              <a:defRPr sz="1200" b="1" i="0">
                <a:solidFill>
                  <a:srgbClr val="D9544D"/>
                </a:solidFill>
              </a:defRPr>
            </a:pPr>
            <a:r>
              <a:rPr sz="1200" b="1" i="0">
                <a:solidFill>
                  <a:srgbClr val="D9544D"/>
                </a:solidFill>
              </a:rPr>
              <a:t>BEFORE ITAMS</a:t>
            </a:r>
          </a:p>
        </p:txBody>
      </p:sp>
      <p:sp>
        <p:nvSpPr>
          <p:cNvPr id="7" name="before-content">
            <a:extLst>
              <a:ext uri="{FF2B5EF4-FFF2-40B4-BE49-F238E27FC236}">
                <a16:creationId xmlns:a16="http://schemas.microsoft.com/office/drawing/2014/main" id="{DB1201D8-868F-4F19-843A-5AD445F436DC}"/>
              </a:ext>
            </a:extLst>
          </p:cNvPr>
          <p:cNvSpPr>
            <a:spLocks noGrp="1"/>
          </p:cNvSpPr>
          <p:nvPr/>
        </p:nvSpPr>
        <p:spPr>
          <a:xfrm>
            <a:off x="609600" y="2266950"/>
            <a:ext cx="4810125" cy="3067050"/>
          </a:xfrm>
          <a:prstGeom prst="rect">
            <a:avLst/>
          </a:prstGeom>
          <a:noFill/>
          <a:ln w="0">
            <a:noFill/>
            <a:prstDash val="solid"/>
          </a:ln>
        </p:spPr>
        <p:txBody>
          <a:bodyPr anchor="t"/>
          <a:lstStyle/>
          <a:p>
            <a:pPr algn="l">
              <a:defRPr sz="1650" b="0" i="0">
                <a:solidFill>
                  <a:srgbClr val="0B132B"/>
                </a:solidFill>
              </a:defRPr>
            </a:pPr>
            <a:r>
              <a:rPr sz="1650" b="0" i="0">
                <a:solidFill>
                  <a:srgbClr val="0B132B"/>
                </a:solidFill>
              </a:rPr>
              <a:t>Asset records were spread across spreadsheets and informal notes.</a:t>
            </a:r>
          </a:p>
          <a:p>
            <a:pPr algn="l"/>
            <a:endParaRPr sz="1650" b="0" i="0">
              <a:solidFill>
                <a:srgbClr val="0B132B"/>
              </a:solidFill>
            </a:endParaRPr>
          </a:p>
          <a:p>
            <a:pPr algn="l"/>
            <a:r>
              <a:rPr sz="1650" b="0" i="0">
                <a:solidFill>
                  <a:srgbClr val="0B132B"/>
                </a:solidFill>
              </a:rPr>
              <a:t>• Current custody was difficult to confirm</a:t>
            </a:r>
          </a:p>
          <a:p>
            <a:pPr algn="l"/>
            <a:r>
              <a:rPr sz="1650" b="0" i="0">
                <a:solidFill>
                  <a:srgbClr val="0B132B"/>
                </a:solidFill>
              </a:rPr>
              <a:t>• Role responsibilities were inconsistent</a:t>
            </a:r>
          </a:p>
          <a:p>
            <a:pPr algn="l"/>
            <a:r>
              <a:rPr sz="1650" b="0" i="0">
                <a:solidFill>
                  <a:srgbClr val="0B132B"/>
                </a:solidFill>
              </a:rPr>
              <a:t>• Audit and lifecycle history was incomplete</a:t>
            </a:r>
          </a:p>
          <a:p>
            <a:pPr algn="l"/>
            <a:r>
              <a:rPr sz="1650" b="0" i="0">
                <a:solidFill>
                  <a:srgbClr val="0B132B"/>
                </a:solidFill>
              </a:rPr>
              <a:t>• Reporting depended on manual reconciliation</a:t>
            </a:r>
          </a:p>
        </p:txBody>
      </p:sp>
      <p:sp>
        <p:nvSpPr>
          <p:cNvPr id="8" name="problem-divider">
            <a:extLst>
              <a:ext uri="{FF2B5EF4-FFF2-40B4-BE49-F238E27FC236}">
                <a16:creationId xmlns:a16="http://schemas.microsoft.com/office/drawing/2014/main" id="{07B28595-7C08-4AAD-B596-664FD8D2A92D}"/>
              </a:ext>
            </a:extLst>
          </p:cNvPr>
          <p:cNvSpPr>
            <a:spLocks noGrp="1"/>
          </p:cNvSpPr>
          <p:nvPr/>
        </p:nvSpPr>
        <p:spPr>
          <a:xfrm>
            <a:off x="5905500" y="1809750"/>
            <a:ext cx="19050" cy="3714750"/>
          </a:xfrm>
          <a:prstGeom prst="rect">
            <a:avLst/>
          </a:prstGeom>
          <a:solidFill>
            <a:srgbClr val="B8BCC4"/>
          </a:solidFill>
          <a:ln w="0">
            <a:noFill/>
            <a:prstDash val="solid"/>
          </a:ln>
        </p:spPr>
        <p:txBody>
          <a:bodyPr/>
          <a:lstStyle/>
          <a:p>
            <a:endParaRPr lang="en-US"/>
          </a:p>
        </p:txBody>
      </p:sp>
      <p:sp>
        <p:nvSpPr>
          <p:cNvPr id="9" name="after-label">
            <a:extLst>
              <a:ext uri="{FF2B5EF4-FFF2-40B4-BE49-F238E27FC236}">
                <a16:creationId xmlns:a16="http://schemas.microsoft.com/office/drawing/2014/main" id="{7E01F759-D69C-4808-BAD5-572B08EA3435}"/>
              </a:ext>
            </a:extLst>
          </p:cNvPr>
          <p:cNvSpPr>
            <a:spLocks noGrp="1"/>
          </p:cNvSpPr>
          <p:nvPr/>
        </p:nvSpPr>
        <p:spPr>
          <a:xfrm>
            <a:off x="6429375" y="1809750"/>
            <a:ext cx="4286250" cy="28575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WITH ITAMS</a:t>
            </a:r>
          </a:p>
        </p:txBody>
      </p:sp>
      <p:sp>
        <p:nvSpPr>
          <p:cNvPr id="10" name="after-content">
            <a:extLst>
              <a:ext uri="{FF2B5EF4-FFF2-40B4-BE49-F238E27FC236}">
                <a16:creationId xmlns:a16="http://schemas.microsoft.com/office/drawing/2014/main" id="{F14BD96A-EE0B-4DF9-8BAC-8FFE9C1C95E6}"/>
              </a:ext>
            </a:extLst>
          </p:cNvPr>
          <p:cNvSpPr>
            <a:spLocks noGrp="1"/>
          </p:cNvSpPr>
          <p:nvPr/>
        </p:nvSpPr>
        <p:spPr>
          <a:xfrm>
            <a:off x="6429375" y="2266950"/>
            <a:ext cx="4810125" cy="3067050"/>
          </a:xfrm>
          <a:prstGeom prst="rect">
            <a:avLst/>
          </a:prstGeom>
          <a:noFill/>
          <a:ln w="0">
            <a:noFill/>
            <a:prstDash val="solid"/>
          </a:ln>
        </p:spPr>
        <p:txBody>
          <a:bodyPr anchor="t"/>
          <a:lstStyle/>
          <a:p>
            <a:pPr algn="l">
              <a:defRPr sz="1650" b="0" i="0">
                <a:solidFill>
                  <a:srgbClr val="0B132B"/>
                </a:solidFill>
              </a:defRPr>
            </a:pPr>
            <a:r>
              <a:rPr sz="1650" b="0" i="0">
                <a:solidFill>
                  <a:srgbClr val="0B132B"/>
                </a:solidFill>
              </a:rPr>
              <a:t>ITAMS now connects inventory, assignments, users, reports, and history in one secure browser-based system.</a:t>
            </a:r>
          </a:p>
          <a:p>
            <a:pPr algn="l"/>
            <a:endParaRPr sz="1650" b="0" i="0">
              <a:solidFill>
                <a:srgbClr val="0B132B"/>
              </a:solidFill>
            </a:endParaRPr>
          </a:p>
          <a:p>
            <a:pPr algn="l"/>
            <a:r>
              <a:rPr sz="1650" b="0" i="0">
                <a:solidFill>
                  <a:srgbClr val="0B132B"/>
                </a:solidFill>
              </a:rPr>
              <a:t>• Central MongoDB records with reference integrity</a:t>
            </a:r>
          </a:p>
          <a:p>
            <a:pPr algn="l"/>
            <a:r>
              <a:rPr sz="1650" b="0" i="0">
                <a:solidFill>
                  <a:srgbClr val="0B132B"/>
                </a:solidFill>
              </a:rPr>
              <a:t>• Role-aware UI backed by API authorization</a:t>
            </a:r>
          </a:p>
          <a:p>
            <a:pPr algn="l"/>
            <a:r>
              <a:rPr sz="1650" b="0" i="0">
                <a:solidFill>
                  <a:srgbClr val="0B132B"/>
                </a:solidFill>
              </a:rPr>
              <a:t>• Audit logs and lifecycle event history</a:t>
            </a:r>
          </a:p>
          <a:p>
            <a:pPr algn="l"/>
            <a:r>
              <a:rPr sz="1650" b="0" i="0">
                <a:solidFill>
                  <a:srgbClr val="0B132B"/>
                </a:solidFill>
              </a:rPr>
              <a:t>• Production reporting and support runbooks</a:t>
            </a:r>
          </a:p>
        </p:txBody>
      </p:sp>
      <p:sp>
        <p:nvSpPr>
          <p:cNvPr id="11" name="solution-callout">
            <a:extLst>
              <a:ext uri="{FF2B5EF4-FFF2-40B4-BE49-F238E27FC236}">
                <a16:creationId xmlns:a16="http://schemas.microsoft.com/office/drawing/2014/main" id="{E98E2F3F-0C09-4E83-A82B-A6C734938570}"/>
              </a:ext>
            </a:extLst>
          </p:cNvPr>
          <p:cNvSpPr>
            <a:spLocks noGrp="1"/>
          </p:cNvSpPr>
          <p:nvPr/>
        </p:nvSpPr>
        <p:spPr>
          <a:xfrm>
            <a:off x="609600" y="5572125"/>
            <a:ext cx="10629900" cy="552450"/>
          </a:xfrm>
          <a:prstGeom prst="roundRect">
            <a:avLst>
              <a:gd name="adj" fmla="val 20690"/>
            </a:avLst>
          </a:prstGeom>
          <a:solidFill>
            <a:srgbClr val="1C2541"/>
          </a:solidFill>
          <a:ln w="0">
            <a:noFill/>
            <a:prstDash val="solid"/>
          </a:ln>
        </p:spPr>
        <p:txBody>
          <a:bodyPr/>
          <a:lstStyle/>
          <a:p>
            <a:endParaRPr lang="en-US"/>
          </a:p>
        </p:txBody>
      </p:sp>
      <p:sp>
        <p:nvSpPr>
          <p:cNvPr id="12" name="solution-callout-text">
            <a:extLst>
              <a:ext uri="{FF2B5EF4-FFF2-40B4-BE49-F238E27FC236}">
                <a16:creationId xmlns:a16="http://schemas.microsoft.com/office/drawing/2014/main" id="{56189CAB-4570-47F9-BDD1-5475B414E38F}"/>
              </a:ext>
            </a:extLst>
          </p:cNvPr>
          <p:cNvSpPr>
            <a:spLocks noGrp="1"/>
          </p:cNvSpPr>
          <p:nvPr/>
        </p:nvSpPr>
        <p:spPr>
          <a:xfrm>
            <a:off x="838200" y="5715000"/>
            <a:ext cx="10191750" cy="285750"/>
          </a:xfrm>
          <a:prstGeom prst="rect">
            <a:avLst/>
          </a:prstGeom>
          <a:noFill/>
          <a:ln w="0">
            <a:noFill/>
            <a:prstDash val="solid"/>
          </a:ln>
        </p:spPr>
        <p:txBody>
          <a:bodyPr anchor="t"/>
          <a:lstStyle/>
          <a:p>
            <a:pPr algn="ctr">
              <a:defRPr sz="1575" b="1" i="0">
                <a:solidFill>
                  <a:srgbClr val="FFFFFF"/>
                </a:solidFill>
              </a:defRPr>
            </a:pPr>
            <a:r>
              <a:rPr sz="1575" b="1" i="0">
                <a:solidFill>
                  <a:srgbClr val="FFFFFF"/>
                </a:solidFill>
              </a:rPr>
              <a:t>Result: traceable assets, controlled access, measurable evidence, and a production-ready handoff.</a:t>
            </a:r>
          </a:p>
        </p:txBody>
      </p:sp>
    </p:spTree>
    <p:extLst>
      <p:ext uri="{BB962C8B-B14F-4D97-AF65-F5344CB8AC3E}">
        <p14:creationId xmlns:p14="http://schemas.microsoft.com/office/powerpoint/2010/main" val="1485673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ction-4">
            <a:extLst>
              <a:ext uri="{FF2B5EF4-FFF2-40B4-BE49-F238E27FC236}">
                <a16:creationId xmlns:a16="http://schemas.microsoft.com/office/drawing/2014/main" id="{D3CD0322-6570-4A39-AE4A-9773C340E3D0}"/>
              </a:ext>
            </a:extLst>
          </p:cNvPr>
          <p:cNvSpPr>
            <a:spLocks noGrp="1"/>
          </p:cNvSpPr>
          <p:nvPr/>
        </p:nvSpPr>
        <p:spPr>
          <a:xfrm>
            <a:off x="400050" y="323850"/>
            <a:ext cx="2857500" cy="22860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TECHNICAL DESIGN</a:t>
            </a:r>
          </a:p>
        </p:txBody>
      </p:sp>
      <p:sp>
        <p:nvSpPr>
          <p:cNvPr id="2" name="title-4">
            <a:extLst>
              <a:ext uri="{FF2B5EF4-FFF2-40B4-BE49-F238E27FC236}">
                <a16:creationId xmlns:a16="http://schemas.microsoft.com/office/drawing/2014/main" id="{4E8C8021-EE98-4D34-9A30-C194ACF19EF0}"/>
              </a:ext>
            </a:extLst>
          </p:cNvPr>
          <p:cNvSpPr>
            <a:spLocks noGrp="1"/>
          </p:cNvSpPr>
          <p:nvPr/>
        </p:nvSpPr>
        <p:spPr>
          <a:xfrm>
            <a:off x="400050" y="628650"/>
            <a:ext cx="10839450" cy="628650"/>
          </a:xfrm>
          <a:prstGeom prst="rect">
            <a:avLst/>
          </a:prstGeom>
          <a:noFill/>
          <a:ln w="0">
            <a:noFill/>
            <a:prstDash val="solid"/>
          </a:ln>
        </p:spPr>
        <p:txBody>
          <a:bodyPr anchor="t"/>
          <a:lstStyle/>
          <a:p>
            <a:pPr algn="l">
              <a:defRPr sz="3225" b="1" i="0">
                <a:solidFill>
                  <a:srgbClr val="0B132B"/>
                </a:solidFill>
              </a:defRPr>
            </a:pPr>
            <a:r>
              <a:rPr sz="3225" b="1" i="0">
                <a:solidFill>
                  <a:srgbClr val="0B132B"/>
                </a:solidFill>
              </a:rPr>
              <a:t>Layered architecture from browser to database</a:t>
            </a:r>
          </a:p>
        </p:txBody>
      </p:sp>
      <p:sp>
        <p:nvSpPr>
          <p:cNvPr id="3" name="rule-42-142">
            <a:extLst>
              <a:ext uri="{FF2B5EF4-FFF2-40B4-BE49-F238E27FC236}">
                <a16:creationId xmlns:a16="http://schemas.microsoft.com/office/drawing/2014/main" id="{401E9186-B1D1-4F0B-A3DD-00B997BADC61}"/>
              </a:ext>
            </a:extLst>
          </p:cNvPr>
          <p:cNvSpPr>
            <a:spLocks noGrp="1"/>
          </p:cNvSpPr>
          <p:nvPr/>
        </p:nvSpPr>
        <p:spPr>
          <a:xfrm>
            <a:off x="400050" y="1352550"/>
            <a:ext cx="11391900" cy="19050"/>
          </a:xfrm>
          <a:prstGeom prst="rect">
            <a:avLst/>
          </a:prstGeom>
          <a:solidFill>
            <a:srgbClr val="0B132B"/>
          </a:solidFill>
          <a:ln w="0">
            <a:noFill/>
            <a:prstDash val="solid"/>
          </a:ln>
        </p:spPr>
        <p:txBody>
          <a:bodyPr/>
          <a:lstStyle/>
          <a:p>
            <a:endParaRPr lang="en-US"/>
          </a:p>
        </p:txBody>
      </p:sp>
      <p:sp>
        <p:nvSpPr>
          <p:cNvPr id="4" name="footer-label-4">
            <a:extLst>
              <a:ext uri="{FF2B5EF4-FFF2-40B4-BE49-F238E27FC236}">
                <a16:creationId xmlns:a16="http://schemas.microsoft.com/office/drawing/2014/main" id="{E61864D1-4247-4122-B595-61E29CDBB0F4}"/>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5" name="footer-number-4">
            <a:extLst>
              <a:ext uri="{FF2B5EF4-FFF2-40B4-BE49-F238E27FC236}">
                <a16:creationId xmlns:a16="http://schemas.microsoft.com/office/drawing/2014/main" id="{4E36E80B-ABB2-49C8-8180-A12BAB542CE3}"/>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4</a:t>
            </a:r>
          </a:p>
        </p:txBody>
      </p:sp>
      <p:sp>
        <p:nvSpPr>
          <p:cNvPr id="6" name="rule-88-302">
            <a:extLst>
              <a:ext uri="{FF2B5EF4-FFF2-40B4-BE49-F238E27FC236}">
                <a16:creationId xmlns:a16="http://schemas.microsoft.com/office/drawing/2014/main" id="{5FE9D2A7-BA69-4F8D-BEB7-2BE38D5AECB1}"/>
              </a:ext>
            </a:extLst>
          </p:cNvPr>
          <p:cNvSpPr>
            <a:spLocks noGrp="1"/>
          </p:cNvSpPr>
          <p:nvPr/>
        </p:nvSpPr>
        <p:spPr>
          <a:xfrm>
            <a:off x="838200" y="2876550"/>
            <a:ext cx="10172700" cy="19050"/>
          </a:xfrm>
          <a:prstGeom prst="rect">
            <a:avLst/>
          </a:prstGeom>
          <a:solidFill>
            <a:srgbClr val="0B132B"/>
          </a:solidFill>
          <a:ln w="0">
            <a:noFill/>
            <a:prstDash val="solid"/>
          </a:ln>
        </p:spPr>
        <p:txBody>
          <a:bodyPr/>
          <a:lstStyle/>
          <a:p>
            <a:endParaRPr lang="en-US"/>
          </a:p>
        </p:txBody>
      </p:sp>
      <p:sp>
        <p:nvSpPr>
          <p:cNvPr id="7" name="timeline-label-CLIENT">
            <a:extLst>
              <a:ext uri="{FF2B5EF4-FFF2-40B4-BE49-F238E27FC236}">
                <a16:creationId xmlns:a16="http://schemas.microsoft.com/office/drawing/2014/main" id="{F2BAC40F-CD0C-4422-802F-53A0CD32F1A6}"/>
              </a:ext>
            </a:extLst>
          </p:cNvPr>
          <p:cNvSpPr>
            <a:spLocks noGrp="1"/>
          </p:cNvSpPr>
          <p:nvPr/>
        </p:nvSpPr>
        <p:spPr>
          <a:xfrm>
            <a:off x="838200" y="2238375"/>
            <a:ext cx="2143125" cy="26670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CLIENT</a:t>
            </a:r>
          </a:p>
        </p:txBody>
      </p:sp>
      <p:sp>
        <p:nvSpPr>
          <p:cNvPr id="8" name="timeline-dot-CLIENT">
            <a:extLst>
              <a:ext uri="{FF2B5EF4-FFF2-40B4-BE49-F238E27FC236}">
                <a16:creationId xmlns:a16="http://schemas.microsoft.com/office/drawing/2014/main" id="{2DB5D717-C844-474C-923D-C13093C4438E}"/>
              </a:ext>
            </a:extLst>
          </p:cNvPr>
          <p:cNvSpPr>
            <a:spLocks noGrp="1"/>
          </p:cNvSpPr>
          <p:nvPr/>
        </p:nvSpPr>
        <p:spPr>
          <a:xfrm>
            <a:off x="838200" y="2781300"/>
            <a:ext cx="171450" cy="171450"/>
          </a:xfrm>
          <a:prstGeom prst="ellipse">
            <a:avLst/>
          </a:prstGeom>
          <a:solidFill>
            <a:srgbClr val="43E0C1"/>
          </a:solidFill>
          <a:ln w="0">
            <a:noFill/>
            <a:prstDash val="solid"/>
          </a:ln>
        </p:spPr>
        <p:txBody>
          <a:bodyPr/>
          <a:lstStyle/>
          <a:p>
            <a:endParaRPr lang="en-US"/>
          </a:p>
        </p:txBody>
      </p:sp>
      <p:sp>
        <p:nvSpPr>
          <p:cNvPr id="9" name="timeline-title-CLIENT">
            <a:extLst>
              <a:ext uri="{FF2B5EF4-FFF2-40B4-BE49-F238E27FC236}">
                <a16:creationId xmlns:a16="http://schemas.microsoft.com/office/drawing/2014/main" id="{1C686096-E546-42C9-B248-A55954F7E76A}"/>
              </a:ext>
            </a:extLst>
          </p:cNvPr>
          <p:cNvSpPr>
            <a:spLocks noGrp="1"/>
          </p:cNvSpPr>
          <p:nvPr/>
        </p:nvSpPr>
        <p:spPr>
          <a:xfrm>
            <a:off x="838200" y="3257550"/>
            <a:ext cx="2238375" cy="523875"/>
          </a:xfrm>
          <a:prstGeom prst="rect">
            <a:avLst/>
          </a:prstGeom>
          <a:noFill/>
          <a:ln w="0">
            <a:noFill/>
            <a:prstDash val="solid"/>
          </a:ln>
        </p:spPr>
        <p:txBody>
          <a:bodyPr anchor="t"/>
          <a:lstStyle/>
          <a:p>
            <a:pPr algn="l">
              <a:defRPr sz="1725" b="1" i="0">
                <a:solidFill>
                  <a:srgbClr val="0B132B"/>
                </a:solidFill>
              </a:defRPr>
            </a:pPr>
            <a:r>
              <a:rPr sz="1725" b="1" i="0">
                <a:solidFill>
                  <a:srgbClr val="0B132B"/>
                </a:solidFill>
              </a:rPr>
              <a:t>Blazor WebAssembly</a:t>
            </a:r>
          </a:p>
        </p:txBody>
      </p:sp>
      <p:sp>
        <p:nvSpPr>
          <p:cNvPr id="10" name="timeline-detail-CLIENT">
            <a:extLst>
              <a:ext uri="{FF2B5EF4-FFF2-40B4-BE49-F238E27FC236}">
                <a16:creationId xmlns:a16="http://schemas.microsoft.com/office/drawing/2014/main" id="{0EBACAA4-04D3-43DA-8C95-B71F19D9086E}"/>
              </a:ext>
            </a:extLst>
          </p:cNvPr>
          <p:cNvSpPr>
            <a:spLocks noGrp="1"/>
          </p:cNvSpPr>
          <p:nvPr/>
        </p:nvSpPr>
        <p:spPr>
          <a:xfrm>
            <a:off x="838200" y="3905250"/>
            <a:ext cx="2238375" cy="1238250"/>
          </a:xfrm>
          <a:prstGeom prst="rect">
            <a:avLst/>
          </a:prstGeom>
          <a:noFill/>
          <a:ln w="0">
            <a:noFill/>
            <a:prstDash val="solid"/>
          </a:ln>
        </p:spPr>
        <p:txBody>
          <a:bodyPr anchor="t"/>
          <a:lstStyle/>
          <a:p>
            <a:pPr algn="l">
              <a:defRPr sz="1350" b="0" i="0">
                <a:solidFill>
                  <a:srgbClr val="596273"/>
                </a:solidFill>
              </a:defRPr>
            </a:pPr>
            <a:r>
              <a:rPr sz="1350" b="0" i="0">
                <a:solidFill>
                  <a:srgbClr val="596273"/>
                </a:solidFill>
              </a:rPr>
              <a:t>Routeable pages, validated forms, role-aware navigation, API clients, and browser session storage.</a:t>
            </a:r>
          </a:p>
        </p:txBody>
      </p:sp>
      <p:sp>
        <p:nvSpPr>
          <p:cNvPr id="11" name="timeline-label-TRANSPORT">
            <a:extLst>
              <a:ext uri="{FF2B5EF4-FFF2-40B4-BE49-F238E27FC236}">
                <a16:creationId xmlns:a16="http://schemas.microsoft.com/office/drawing/2014/main" id="{99C971E1-91F6-42DA-8164-1C3E3371D6A2}"/>
              </a:ext>
            </a:extLst>
          </p:cNvPr>
          <p:cNvSpPr>
            <a:spLocks noGrp="1"/>
          </p:cNvSpPr>
          <p:nvPr/>
        </p:nvSpPr>
        <p:spPr>
          <a:xfrm>
            <a:off x="3524250" y="2238375"/>
            <a:ext cx="2143125" cy="26670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TRANSPORT</a:t>
            </a:r>
          </a:p>
        </p:txBody>
      </p:sp>
      <p:sp>
        <p:nvSpPr>
          <p:cNvPr id="12" name="timeline-dot-TRANSPORT">
            <a:extLst>
              <a:ext uri="{FF2B5EF4-FFF2-40B4-BE49-F238E27FC236}">
                <a16:creationId xmlns:a16="http://schemas.microsoft.com/office/drawing/2014/main" id="{5046ACF7-AE31-4F35-8196-8742B7694929}"/>
              </a:ext>
            </a:extLst>
          </p:cNvPr>
          <p:cNvSpPr>
            <a:spLocks noGrp="1"/>
          </p:cNvSpPr>
          <p:nvPr/>
        </p:nvSpPr>
        <p:spPr>
          <a:xfrm>
            <a:off x="3524250" y="2781300"/>
            <a:ext cx="171450" cy="171450"/>
          </a:xfrm>
          <a:prstGeom prst="ellipse">
            <a:avLst/>
          </a:prstGeom>
          <a:solidFill>
            <a:srgbClr val="43E0C1"/>
          </a:solidFill>
          <a:ln w="0">
            <a:noFill/>
            <a:prstDash val="solid"/>
          </a:ln>
        </p:spPr>
        <p:txBody>
          <a:bodyPr/>
          <a:lstStyle/>
          <a:p>
            <a:endParaRPr lang="en-US"/>
          </a:p>
        </p:txBody>
      </p:sp>
      <p:sp>
        <p:nvSpPr>
          <p:cNvPr id="13" name="timeline-title-TRANSPORT">
            <a:extLst>
              <a:ext uri="{FF2B5EF4-FFF2-40B4-BE49-F238E27FC236}">
                <a16:creationId xmlns:a16="http://schemas.microsoft.com/office/drawing/2014/main" id="{88A24420-0C6A-46E6-BB0B-7E707D1A8E39}"/>
              </a:ext>
            </a:extLst>
          </p:cNvPr>
          <p:cNvSpPr>
            <a:spLocks noGrp="1"/>
          </p:cNvSpPr>
          <p:nvPr/>
        </p:nvSpPr>
        <p:spPr>
          <a:xfrm>
            <a:off x="3524250" y="3257550"/>
            <a:ext cx="2238375" cy="523875"/>
          </a:xfrm>
          <a:prstGeom prst="rect">
            <a:avLst/>
          </a:prstGeom>
          <a:noFill/>
          <a:ln w="0">
            <a:noFill/>
            <a:prstDash val="solid"/>
          </a:ln>
        </p:spPr>
        <p:txBody>
          <a:bodyPr anchor="t"/>
          <a:lstStyle/>
          <a:p>
            <a:pPr algn="l">
              <a:defRPr sz="1725" b="1" i="0">
                <a:solidFill>
                  <a:srgbClr val="0B132B"/>
                </a:solidFill>
              </a:defRPr>
            </a:pPr>
            <a:r>
              <a:rPr sz="1725" b="1" i="0">
                <a:solidFill>
                  <a:srgbClr val="0B132B"/>
                </a:solidFill>
              </a:rPr>
              <a:t>HTTPS JSON API</a:t>
            </a:r>
          </a:p>
        </p:txBody>
      </p:sp>
      <p:sp>
        <p:nvSpPr>
          <p:cNvPr id="14" name="timeline-detail-TRANSPORT">
            <a:extLst>
              <a:ext uri="{FF2B5EF4-FFF2-40B4-BE49-F238E27FC236}">
                <a16:creationId xmlns:a16="http://schemas.microsoft.com/office/drawing/2014/main" id="{A2F7439A-2BD0-4D96-B1F6-CA53AD07986A}"/>
              </a:ext>
            </a:extLst>
          </p:cNvPr>
          <p:cNvSpPr>
            <a:spLocks noGrp="1"/>
          </p:cNvSpPr>
          <p:nvPr/>
        </p:nvSpPr>
        <p:spPr>
          <a:xfrm>
            <a:off x="3524250" y="3905250"/>
            <a:ext cx="2238375" cy="1238250"/>
          </a:xfrm>
          <a:prstGeom prst="rect">
            <a:avLst/>
          </a:prstGeom>
          <a:noFill/>
          <a:ln w="0">
            <a:noFill/>
            <a:prstDash val="solid"/>
          </a:ln>
        </p:spPr>
        <p:txBody>
          <a:bodyPr anchor="t"/>
          <a:lstStyle/>
          <a:p>
            <a:pPr algn="l">
              <a:defRPr sz="1350" b="0" i="0">
                <a:solidFill>
                  <a:srgbClr val="596273"/>
                </a:solidFill>
              </a:defRPr>
            </a:pPr>
            <a:r>
              <a:rPr sz="1350" b="0" i="0">
                <a:solidFill>
                  <a:srgbClr val="596273"/>
                </a:solidFill>
              </a:rPr>
              <a:t>Bearer access tokens identify users; refresh sessions support renewal, rotation, and revocation.</a:t>
            </a:r>
          </a:p>
        </p:txBody>
      </p:sp>
      <p:sp>
        <p:nvSpPr>
          <p:cNvPr id="15" name="timeline-label-SERVER">
            <a:extLst>
              <a:ext uri="{FF2B5EF4-FFF2-40B4-BE49-F238E27FC236}">
                <a16:creationId xmlns:a16="http://schemas.microsoft.com/office/drawing/2014/main" id="{4E027953-B153-4B8F-9592-13FB4A12382D}"/>
              </a:ext>
            </a:extLst>
          </p:cNvPr>
          <p:cNvSpPr>
            <a:spLocks noGrp="1"/>
          </p:cNvSpPr>
          <p:nvPr/>
        </p:nvSpPr>
        <p:spPr>
          <a:xfrm>
            <a:off x="6210300" y="2238375"/>
            <a:ext cx="2143125" cy="26670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SERVER</a:t>
            </a:r>
          </a:p>
        </p:txBody>
      </p:sp>
      <p:sp>
        <p:nvSpPr>
          <p:cNvPr id="16" name="timeline-dot-SERVER">
            <a:extLst>
              <a:ext uri="{FF2B5EF4-FFF2-40B4-BE49-F238E27FC236}">
                <a16:creationId xmlns:a16="http://schemas.microsoft.com/office/drawing/2014/main" id="{E3707293-A431-42A9-A28A-07106C90A601}"/>
              </a:ext>
            </a:extLst>
          </p:cNvPr>
          <p:cNvSpPr>
            <a:spLocks noGrp="1"/>
          </p:cNvSpPr>
          <p:nvPr/>
        </p:nvSpPr>
        <p:spPr>
          <a:xfrm>
            <a:off x="6210300" y="2781300"/>
            <a:ext cx="171450" cy="171450"/>
          </a:xfrm>
          <a:prstGeom prst="ellipse">
            <a:avLst/>
          </a:prstGeom>
          <a:solidFill>
            <a:srgbClr val="43E0C1"/>
          </a:solidFill>
          <a:ln w="0">
            <a:noFill/>
            <a:prstDash val="solid"/>
          </a:ln>
        </p:spPr>
        <p:txBody>
          <a:bodyPr/>
          <a:lstStyle/>
          <a:p>
            <a:endParaRPr lang="en-US"/>
          </a:p>
        </p:txBody>
      </p:sp>
      <p:sp>
        <p:nvSpPr>
          <p:cNvPr id="17" name="timeline-title-SERVER">
            <a:extLst>
              <a:ext uri="{FF2B5EF4-FFF2-40B4-BE49-F238E27FC236}">
                <a16:creationId xmlns:a16="http://schemas.microsoft.com/office/drawing/2014/main" id="{86397149-9FFF-487C-8C7D-2E264802E31C}"/>
              </a:ext>
            </a:extLst>
          </p:cNvPr>
          <p:cNvSpPr>
            <a:spLocks noGrp="1"/>
          </p:cNvSpPr>
          <p:nvPr/>
        </p:nvSpPr>
        <p:spPr>
          <a:xfrm>
            <a:off x="6210300" y="3257550"/>
            <a:ext cx="2238375" cy="523875"/>
          </a:xfrm>
          <a:prstGeom prst="rect">
            <a:avLst/>
          </a:prstGeom>
          <a:noFill/>
          <a:ln w="0">
            <a:noFill/>
            <a:prstDash val="solid"/>
          </a:ln>
        </p:spPr>
        <p:txBody>
          <a:bodyPr anchor="t"/>
          <a:lstStyle/>
          <a:p>
            <a:pPr algn="l">
              <a:defRPr sz="1725" b="1" i="0">
                <a:solidFill>
                  <a:srgbClr val="0B132B"/>
                </a:solidFill>
              </a:defRPr>
            </a:pPr>
            <a:r>
              <a:rPr sz="1725" b="1" i="0">
                <a:solidFill>
                  <a:srgbClr val="0B132B"/>
                </a:solidFill>
              </a:rPr>
              <a:t>ASP.NET Core API</a:t>
            </a:r>
          </a:p>
        </p:txBody>
      </p:sp>
      <p:sp>
        <p:nvSpPr>
          <p:cNvPr id="18" name="timeline-detail-SERVER">
            <a:extLst>
              <a:ext uri="{FF2B5EF4-FFF2-40B4-BE49-F238E27FC236}">
                <a16:creationId xmlns:a16="http://schemas.microsoft.com/office/drawing/2014/main" id="{95FC5A72-297F-44EE-AB28-BB5D36F63426}"/>
              </a:ext>
            </a:extLst>
          </p:cNvPr>
          <p:cNvSpPr>
            <a:spLocks noGrp="1"/>
          </p:cNvSpPr>
          <p:nvPr/>
        </p:nvSpPr>
        <p:spPr>
          <a:xfrm>
            <a:off x="6210300" y="3905250"/>
            <a:ext cx="2238375" cy="1238250"/>
          </a:xfrm>
          <a:prstGeom prst="rect">
            <a:avLst/>
          </a:prstGeom>
          <a:noFill/>
          <a:ln w="0">
            <a:noFill/>
            <a:prstDash val="solid"/>
          </a:ln>
        </p:spPr>
        <p:txBody>
          <a:bodyPr anchor="t"/>
          <a:lstStyle/>
          <a:p>
            <a:pPr algn="l">
              <a:defRPr sz="1350" b="0" i="0">
                <a:solidFill>
                  <a:srgbClr val="596273"/>
                </a:solidFill>
              </a:defRPr>
            </a:pPr>
            <a:r>
              <a:rPr sz="1350" b="0" i="0">
                <a:solidFill>
                  <a:srgbClr val="596273"/>
                </a:solidFill>
              </a:rPr>
              <a:t>Seven endpoint groups, 26 mapped routes, authorization policies, validation, and domain services.</a:t>
            </a:r>
          </a:p>
        </p:txBody>
      </p:sp>
      <p:sp>
        <p:nvSpPr>
          <p:cNvPr id="19" name="timeline-label-PERSISTENCE">
            <a:extLst>
              <a:ext uri="{FF2B5EF4-FFF2-40B4-BE49-F238E27FC236}">
                <a16:creationId xmlns:a16="http://schemas.microsoft.com/office/drawing/2014/main" id="{27CD01E9-FE33-481D-8E0D-70DD95EBD562}"/>
              </a:ext>
            </a:extLst>
          </p:cNvPr>
          <p:cNvSpPr>
            <a:spLocks noGrp="1"/>
          </p:cNvSpPr>
          <p:nvPr/>
        </p:nvSpPr>
        <p:spPr>
          <a:xfrm>
            <a:off x="8896350" y="2238375"/>
            <a:ext cx="2143125" cy="26670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PERSISTENCE</a:t>
            </a:r>
          </a:p>
        </p:txBody>
      </p:sp>
      <p:sp>
        <p:nvSpPr>
          <p:cNvPr id="20" name="timeline-dot-PERSISTENCE">
            <a:extLst>
              <a:ext uri="{FF2B5EF4-FFF2-40B4-BE49-F238E27FC236}">
                <a16:creationId xmlns:a16="http://schemas.microsoft.com/office/drawing/2014/main" id="{14CC65BF-9B3A-4423-A233-B3DB623EF945}"/>
              </a:ext>
            </a:extLst>
          </p:cNvPr>
          <p:cNvSpPr>
            <a:spLocks noGrp="1"/>
          </p:cNvSpPr>
          <p:nvPr/>
        </p:nvSpPr>
        <p:spPr>
          <a:xfrm>
            <a:off x="8896350" y="2781300"/>
            <a:ext cx="171450" cy="171450"/>
          </a:xfrm>
          <a:prstGeom prst="ellipse">
            <a:avLst/>
          </a:prstGeom>
          <a:solidFill>
            <a:srgbClr val="43E0C1"/>
          </a:solidFill>
          <a:ln w="0">
            <a:noFill/>
            <a:prstDash val="solid"/>
          </a:ln>
        </p:spPr>
        <p:txBody>
          <a:bodyPr/>
          <a:lstStyle/>
          <a:p>
            <a:endParaRPr lang="en-US"/>
          </a:p>
        </p:txBody>
      </p:sp>
      <p:sp>
        <p:nvSpPr>
          <p:cNvPr id="21" name="timeline-title-PERSISTENCE">
            <a:extLst>
              <a:ext uri="{FF2B5EF4-FFF2-40B4-BE49-F238E27FC236}">
                <a16:creationId xmlns:a16="http://schemas.microsoft.com/office/drawing/2014/main" id="{B6253AAE-4537-4EDF-BFBA-CA4F126D92BF}"/>
              </a:ext>
            </a:extLst>
          </p:cNvPr>
          <p:cNvSpPr>
            <a:spLocks noGrp="1"/>
          </p:cNvSpPr>
          <p:nvPr/>
        </p:nvSpPr>
        <p:spPr>
          <a:xfrm>
            <a:off x="8896350" y="3257550"/>
            <a:ext cx="2238375" cy="523875"/>
          </a:xfrm>
          <a:prstGeom prst="rect">
            <a:avLst/>
          </a:prstGeom>
          <a:noFill/>
          <a:ln w="0">
            <a:noFill/>
            <a:prstDash val="solid"/>
          </a:ln>
        </p:spPr>
        <p:txBody>
          <a:bodyPr anchor="t"/>
          <a:lstStyle/>
          <a:p>
            <a:pPr algn="l">
              <a:defRPr sz="1725" b="1" i="0">
                <a:solidFill>
                  <a:srgbClr val="0B132B"/>
                </a:solidFill>
              </a:defRPr>
            </a:pPr>
            <a:r>
              <a:rPr sz="1725" b="1" i="0">
                <a:solidFill>
                  <a:srgbClr val="0B132B"/>
                </a:solidFill>
              </a:rPr>
              <a:t>MongoDB</a:t>
            </a:r>
          </a:p>
        </p:txBody>
      </p:sp>
      <p:sp>
        <p:nvSpPr>
          <p:cNvPr id="22" name="timeline-detail-PERSISTENCE">
            <a:extLst>
              <a:ext uri="{FF2B5EF4-FFF2-40B4-BE49-F238E27FC236}">
                <a16:creationId xmlns:a16="http://schemas.microsoft.com/office/drawing/2014/main" id="{09974A99-183C-49A5-980F-65078B2DA914}"/>
              </a:ext>
            </a:extLst>
          </p:cNvPr>
          <p:cNvSpPr>
            <a:spLocks noGrp="1"/>
          </p:cNvSpPr>
          <p:nvPr/>
        </p:nvSpPr>
        <p:spPr>
          <a:xfrm>
            <a:off x="8896350" y="3905250"/>
            <a:ext cx="2238375" cy="1238250"/>
          </a:xfrm>
          <a:prstGeom prst="rect">
            <a:avLst/>
          </a:prstGeom>
          <a:noFill/>
          <a:ln w="0">
            <a:noFill/>
            <a:prstDash val="solid"/>
          </a:ln>
        </p:spPr>
        <p:txBody>
          <a:bodyPr anchor="t"/>
          <a:lstStyle/>
          <a:p>
            <a:pPr algn="l">
              <a:defRPr sz="1350" b="0" i="0">
                <a:solidFill>
                  <a:srgbClr val="596273"/>
                </a:solidFill>
              </a:defRPr>
            </a:pPr>
            <a:r>
              <a:rPr sz="1350" b="0" i="0">
                <a:solidFill>
                  <a:srgbClr val="596273"/>
                </a:solidFill>
              </a:rPr>
              <a:t>Document collections for assets, assignments, users, sessions, audit logs, and lifecycle events.</a:t>
            </a:r>
          </a:p>
        </p:txBody>
      </p:sp>
      <p:sp>
        <p:nvSpPr>
          <p:cNvPr id="23" name="hosting-strip">
            <a:extLst>
              <a:ext uri="{FF2B5EF4-FFF2-40B4-BE49-F238E27FC236}">
                <a16:creationId xmlns:a16="http://schemas.microsoft.com/office/drawing/2014/main" id="{FFECD9A7-566D-4DEE-AD35-AD92360CD076}"/>
              </a:ext>
            </a:extLst>
          </p:cNvPr>
          <p:cNvSpPr>
            <a:spLocks noGrp="1"/>
          </p:cNvSpPr>
          <p:nvPr/>
        </p:nvSpPr>
        <p:spPr>
          <a:xfrm>
            <a:off x="838200" y="5410200"/>
            <a:ext cx="10172700" cy="647700"/>
          </a:xfrm>
          <a:prstGeom prst="roundRect">
            <a:avLst>
              <a:gd name="adj" fmla="val 17647"/>
            </a:avLst>
          </a:prstGeom>
          <a:solidFill>
            <a:srgbClr val="F6F7F9"/>
          </a:solidFill>
          <a:ln w="9525">
            <a:solidFill>
              <a:srgbClr val="B8BCC4"/>
            </a:solidFill>
            <a:prstDash val="solid"/>
          </a:ln>
        </p:spPr>
        <p:txBody>
          <a:bodyPr/>
          <a:lstStyle/>
          <a:p>
            <a:endParaRPr lang="en-US"/>
          </a:p>
        </p:txBody>
      </p:sp>
      <p:sp>
        <p:nvSpPr>
          <p:cNvPr id="24" name="hosting-strip-text">
            <a:extLst>
              <a:ext uri="{FF2B5EF4-FFF2-40B4-BE49-F238E27FC236}">
                <a16:creationId xmlns:a16="http://schemas.microsoft.com/office/drawing/2014/main" id="{2D48D396-107F-4EE3-A5C6-FC6CCDB874F6}"/>
              </a:ext>
            </a:extLst>
          </p:cNvPr>
          <p:cNvSpPr>
            <a:spLocks noGrp="1"/>
          </p:cNvSpPr>
          <p:nvPr/>
        </p:nvSpPr>
        <p:spPr>
          <a:xfrm>
            <a:off x="1095375" y="5591175"/>
            <a:ext cx="9667875" cy="285750"/>
          </a:xfrm>
          <a:prstGeom prst="rect">
            <a:avLst/>
          </a:prstGeom>
          <a:noFill/>
          <a:ln w="0">
            <a:noFill/>
            <a:prstDash val="solid"/>
          </a:ln>
        </p:spPr>
        <p:txBody>
          <a:bodyPr anchor="t"/>
          <a:lstStyle/>
          <a:p>
            <a:pPr algn="ctr">
              <a:defRPr sz="1500" b="1" i="0">
                <a:solidFill>
                  <a:srgbClr val="0B132B"/>
                </a:solidFill>
              </a:defRPr>
            </a:pPr>
            <a:r>
              <a:rPr sz="1500" b="1" i="0">
                <a:solidFill>
                  <a:srgbClr val="0B132B"/>
                </a:solidFill>
              </a:rPr>
              <a:t>Production path: Git push → deployment validation → versioned IIS release → smoke checks → rollback-ready operations</a:t>
            </a:r>
          </a:p>
        </p:txBody>
      </p:sp>
    </p:spTree>
    <p:extLst>
      <p:ext uri="{BB962C8B-B14F-4D97-AF65-F5344CB8AC3E}">
        <p14:creationId xmlns:p14="http://schemas.microsoft.com/office/powerpoint/2010/main" val="2028882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ection-5">
            <a:extLst>
              <a:ext uri="{FF2B5EF4-FFF2-40B4-BE49-F238E27FC236}">
                <a16:creationId xmlns:a16="http://schemas.microsoft.com/office/drawing/2014/main" id="{8B6A097D-DE03-4389-A82A-2EDF854500C4}"/>
              </a:ext>
            </a:extLst>
          </p:cNvPr>
          <p:cNvSpPr>
            <a:spLocks noGrp="1"/>
          </p:cNvSpPr>
          <p:nvPr/>
        </p:nvSpPr>
        <p:spPr>
          <a:xfrm>
            <a:off x="400050" y="323850"/>
            <a:ext cx="2857500" cy="22860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IMPLEMENTED SCOPE</a:t>
            </a:r>
          </a:p>
        </p:txBody>
      </p:sp>
      <p:sp>
        <p:nvSpPr>
          <p:cNvPr id="2" name="title-5">
            <a:extLst>
              <a:ext uri="{FF2B5EF4-FFF2-40B4-BE49-F238E27FC236}">
                <a16:creationId xmlns:a16="http://schemas.microsoft.com/office/drawing/2014/main" id="{33F5BAC2-66FE-4487-B02E-01A3832C2182}"/>
              </a:ext>
            </a:extLst>
          </p:cNvPr>
          <p:cNvSpPr>
            <a:spLocks noGrp="1"/>
          </p:cNvSpPr>
          <p:nvPr/>
        </p:nvSpPr>
        <p:spPr>
          <a:xfrm>
            <a:off x="400050" y="628650"/>
            <a:ext cx="10839450" cy="628650"/>
          </a:xfrm>
          <a:prstGeom prst="rect">
            <a:avLst/>
          </a:prstGeom>
          <a:noFill/>
          <a:ln w="0">
            <a:noFill/>
            <a:prstDash val="solid"/>
          </a:ln>
        </p:spPr>
        <p:txBody>
          <a:bodyPr anchor="t"/>
          <a:lstStyle/>
          <a:p>
            <a:pPr algn="l">
              <a:defRPr sz="3225" b="1" i="0">
                <a:solidFill>
                  <a:srgbClr val="0B132B"/>
                </a:solidFill>
              </a:defRPr>
            </a:pPr>
            <a:r>
              <a:rPr sz="3225" b="1" i="0">
                <a:solidFill>
                  <a:srgbClr val="0B132B"/>
                </a:solidFill>
              </a:rPr>
              <a:t>Final functionality in the production release</a:t>
            </a:r>
          </a:p>
        </p:txBody>
      </p:sp>
      <p:sp>
        <p:nvSpPr>
          <p:cNvPr id="3" name="rule-42-142">
            <a:extLst>
              <a:ext uri="{FF2B5EF4-FFF2-40B4-BE49-F238E27FC236}">
                <a16:creationId xmlns:a16="http://schemas.microsoft.com/office/drawing/2014/main" id="{734858DC-5217-4202-B18C-1982501AF262}"/>
              </a:ext>
            </a:extLst>
          </p:cNvPr>
          <p:cNvSpPr>
            <a:spLocks noGrp="1"/>
          </p:cNvSpPr>
          <p:nvPr/>
        </p:nvSpPr>
        <p:spPr>
          <a:xfrm>
            <a:off x="400050" y="1352550"/>
            <a:ext cx="11391900" cy="19050"/>
          </a:xfrm>
          <a:prstGeom prst="rect">
            <a:avLst/>
          </a:prstGeom>
          <a:solidFill>
            <a:srgbClr val="0B132B"/>
          </a:solidFill>
          <a:ln w="0">
            <a:noFill/>
            <a:prstDash val="solid"/>
          </a:ln>
        </p:spPr>
        <p:txBody>
          <a:bodyPr/>
          <a:lstStyle/>
          <a:p>
            <a:endParaRPr lang="en-US"/>
          </a:p>
        </p:txBody>
      </p:sp>
      <p:sp>
        <p:nvSpPr>
          <p:cNvPr id="4" name="footer-label-5">
            <a:extLst>
              <a:ext uri="{FF2B5EF4-FFF2-40B4-BE49-F238E27FC236}">
                <a16:creationId xmlns:a16="http://schemas.microsoft.com/office/drawing/2014/main" id="{5C1C651F-C235-40AB-BB76-9AF307BD1D16}"/>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5" name="footer-number-5">
            <a:extLst>
              <a:ext uri="{FF2B5EF4-FFF2-40B4-BE49-F238E27FC236}">
                <a16:creationId xmlns:a16="http://schemas.microsoft.com/office/drawing/2014/main" id="{E48EFF62-0B0F-42C9-8830-6AA7B4248F1F}"/>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5</a:t>
            </a:r>
          </a:p>
        </p:txBody>
      </p:sp>
      <p:sp>
        <p:nvSpPr>
          <p:cNvPr id="6" name="function-panel-Inventory">
            <a:extLst>
              <a:ext uri="{FF2B5EF4-FFF2-40B4-BE49-F238E27FC236}">
                <a16:creationId xmlns:a16="http://schemas.microsoft.com/office/drawing/2014/main" id="{F88A0AB7-1E6E-48B5-9425-AE685C342773}"/>
              </a:ext>
            </a:extLst>
          </p:cNvPr>
          <p:cNvSpPr>
            <a:spLocks noGrp="1"/>
          </p:cNvSpPr>
          <p:nvPr/>
        </p:nvSpPr>
        <p:spPr>
          <a:xfrm>
            <a:off x="400050" y="1752600"/>
            <a:ext cx="3448050" cy="4000500"/>
          </a:xfrm>
          <a:prstGeom prst="rect">
            <a:avLst/>
          </a:prstGeom>
          <a:solidFill>
            <a:srgbClr val="F6F7F9"/>
          </a:solidFill>
          <a:ln w="9525">
            <a:solidFill>
              <a:srgbClr val="B8BCC4"/>
            </a:solidFill>
            <a:prstDash val="solid"/>
          </a:ln>
        </p:spPr>
        <p:txBody>
          <a:bodyPr/>
          <a:lstStyle/>
          <a:p>
            <a:endParaRPr lang="en-US"/>
          </a:p>
        </p:txBody>
      </p:sp>
      <p:sp>
        <p:nvSpPr>
          <p:cNvPr id="7" name="function-accent-Inventory">
            <a:extLst>
              <a:ext uri="{FF2B5EF4-FFF2-40B4-BE49-F238E27FC236}">
                <a16:creationId xmlns:a16="http://schemas.microsoft.com/office/drawing/2014/main" id="{37FAEB53-8F24-4B24-95B5-5FC1AB89A797}"/>
              </a:ext>
            </a:extLst>
          </p:cNvPr>
          <p:cNvSpPr>
            <a:spLocks noGrp="1"/>
          </p:cNvSpPr>
          <p:nvPr/>
        </p:nvSpPr>
        <p:spPr>
          <a:xfrm>
            <a:off x="400050" y="1752600"/>
            <a:ext cx="3448050" cy="85725"/>
          </a:xfrm>
          <a:prstGeom prst="rect">
            <a:avLst/>
          </a:prstGeom>
          <a:solidFill>
            <a:srgbClr val="43E0C1"/>
          </a:solidFill>
          <a:ln w="0">
            <a:noFill/>
            <a:prstDash val="solid"/>
          </a:ln>
        </p:spPr>
        <p:txBody>
          <a:bodyPr/>
          <a:lstStyle/>
          <a:p>
            <a:endParaRPr lang="en-US"/>
          </a:p>
        </p:txBody>
      </p:sp>
      <p:sp>
        <p:nvSpPr>
          <p:cNvPr id="8" name="function-title-Inventory">
            <a:extLst>
              <a:ext uri="{FF2B5EF4-FFF2-40B4-BE49-F238E27FC236}">
                <a16:creationId xmlns:a16="http://schemas.microsoft.com/office/drawing/2014/main" id="{C062BADB-5352-41A4-8D1E-CC3737B1A967}"/>
              </a:ext>
            </a:extLst>
          </p:cNvPr>
          <p:cNvSpPr>
            <a:spLocks noGrp="1"/>
          </p:cNvSpPr>
          <p:nvPr/>
        </p:nvSpPr>
        <p:spPr>
          <a:xfrm>
            <a:off x="628650" y="2047875"/>
            <a:ext cx="2952750" cy="428625"/>
          </a:xfrm>
          <a:prstGeom prst="rect">
            <a:avLst/>
          </a:prstGeom>
          <a:noFill/>
          <a:ln w="0">
            <a:noFill/>
            <a:prstDash val="solid"/>
          </a:ln>
        </p:spPr>
        <p:txBody>
          <a:bodyPr anchor="t"/>
          <a:lstStyle/>
          <a:p>
            <a:pPr algn="l">
              <a:defRPr sz="2025" b="1" i="0">
                <a:solidFill>
                  <a:srgbClr val="0B132B"/>
                </a:solidFill>
              </a:defRPr>
            </a:pPr>
            <a:r>
              <a:rPr sz="2025" b="1" i="0">
                <a:solidFill>
                  <a:srgbClr val="0B132B"/>
                </a:solidFill>
              </a:rPr>
              <a:t>Inventory</a:t>
            </a:r>
          </a:p>
        </p:txBody>
      </p:sp>
      <p:sp>
        <p:nvSpPr>
          <p:cNvPr id="9" name="function-text-Inventory">
            <a:extLst>
              <a:ext uri="{FF2B5EF4-FFF2-40B4-BE49-F238E27FC236}">
                <a16:creationId xmlns:a16="http://schemas.microsoft.com/office/drawing/2014/main" id="{BE59B8D1-8DC8-471C-ACC4-96E9C30F34D1}"/>
              </a:ext>
            </a:extLst>
          </p:cNvPr>
          <p:cNvSpPr>
            <a:spLocks noGrp="1"/>
          </p:cNvSpPr>
          <p:nvPr/>
        </p:nvSpPr>
        <p:spPr>
          <a:xfrm>
            <a:off x="628650" y="2638425"/>
            <a:ext cx="2952750" cy="2762250"/>
          </a:xfrm>
          <a:prstGeom prst="rect">
            <a:avLst/>
          </a:prstGeom>
          <a:noFill/>
          <a:ln w="0">
            <a:noFill/>
            <a:prstDash val="solid"/>
          </a:ln>
        </p:spPr>
        <p:txBody>
          <a:bodyPr anchor="t"/>
          <a:lstStyle/>
          <a:p>
            <a:pPr algn="l">
              <a:defRPr sz="1425" b="0" i="0">
                <a:solidFill>
                  <a:srgbClr val="0B132B"/>
                </a:solidFill>
              </a:defRPr>
            </a:pPr>
            <a:r>
              <a:rPr sz="1425" b="0" i="0">
                <a:solidFill>
                  <a:srgbClr val="0B132B"/>
                </a:solidFill>
              </a:rPr>
              <a:t>Assets</a:t>
            </a:r>
          </a:p>
          <a:p>
            <a:pPr algn="l"/>
            <a:r>
              <a:rPr sz="1425" b="0" i="0">
                <a:solidFill>
                  <a:srgbClr val="0B132B"/>
                </a:solidFill>
              </a:rPr>
              <a:t>• Create, update, and delete records</a:t>
            </a:r>
          </a:p>
          <a:p>
            <a:pPr algn="l"/>
            <a:r>
              <a:rPr sz="1425" b="0" i="0">
                <a:solidFill>
                  <a:srgbClr val="0B132B"/>
                </a:solidFill>
              </a:rPr>
              <a:t>• Filter and paginate inventory</a:t>
            </a:r>
          </a:p>
          <a:p>
            <a:pPr algn="l"/>
            <a:r>
              <a:rPr sz="1425" b="0" i="0">
                <a:solidFill>
                  <a:srgbClr val="0B132B"/>
                </a:solidFill>
              </a:rPr>
              <a:t>• Track status, type, dates, department, and assignment state</a:t>
            </a:r>
          </a:p>
          <a:p>
            <a:pPr algn="l"/>
            <a:endParaRPr sz="1425" b="0" i="0">
              <a:solidFill>
                <a:srgbClr val="0B132B"/>
              </a:solidFill>
            </a:endParaRPr>
          </a:p>
          <a:p>
            <a:pPr algn="l"/>
            <a:r>
              <a:rPr sz="1425" b="0" i="0">
                <a:solidFill>
                  <a:srgbClr val="0B132B"/>
                </a:solidFill>
              </a:rPr>
              <a:t>Assignments</a:t>
            </a:r>
          </a:p>
          <a:p>
            <a:pPr algn="l"/>
            <a:r>
              <a:rPr sz="1425" b="0" i="0">
                <a:solidFill>
                  <a:srgbClr val="0B132B"/>
                </a:solidFill>
              </a:rPr>
              <a:t>• Open and close custody records</a:t>
            </a:r>
          </a:p>
          <a:p>
            <a:pPr algn="l"/>
            <a:r>
              <a:rPr sz="1425" b="0" i="0">
                <a:solidFill>
                  <a:srgbClr val="0B132B"/>
                </a:solidFill>
              </a:rPr>
              <a:t>• Synchronize each asset’s current assignee</a:t>
            </a:r>
          </a:p>
        </p:txBody>
      </p:sp>
      <p:sp>
        <p:nvSpPr>
          <p:cNvPr id="10" name="function-panel-People &amp; access">
            <a:extLst>
              <a:ext uri="{FF2B5EF4-FFF2-40B4-BE49-F238E27FC236}">
                <a16:creationId xmlns:a16="http://schemas.microsoft.com/office/drawing/2014/main" id="{24E278B6-05F0-4568-B632-FDC1647DD0C0}"/>
              </a:ext>
            </a:extLst>
          </p:cNvPr>
          <p:cNvSpPr>
            <a:spLocks noGrp="1"/>
          </p:cNvSpPr>
          <p:nvPr/>
        </p:nvSpPr>
        <p:spPr>
          <a:xfrm>
            <a:off x="4238625" y="1752600"/>
            <a:ext cx="3448050" cy="4000500"/>
          </a:xfrm>
          <a:prstGeom prst="rect">
            <a:avLst/>
          </a:prstGeom>
          <a:solidFill>
            <a:srgbClr val="F6F7F9"/>
          </a:solidFill>
          <a:ln w="9525">
            <a:solidFill>
              <a:srgbClr val="B8BCC4"/>
            </a:solidFill>
            <a:prstDash val="solid"/>
          </a:ln>
        </p:spPr>
        <p:txBody>
          <a:bodyPr/>
          <a:lstStyle/>
          <a:p>
            <a:endParaRPr lang="en-US"/>
          </a:p>
        </p:txBody>
      </p:sp>
      <p:sp>
        <p:nvSpPr>
          <p:cNvPr id="11" name="function-accent-People &amp; access">
            <a:extLst>
              <a:ext uri="{FF2B5EF4-FFF2-40B4-BE49-F238E27FC236}">
                <a16:creationId xmlns:a16="http://schemas.microsoft.com/office/drawing/2014/main" id="{32B6579C-DA3F-443A-B7D4-1CB16499989A}"/>
              </a:ext>
            </a:extLst>
          </p:cNvPr>
          <p:cNvSpPr>
            <a:spLocks noGrp="1"/>
          </p:cNvSpPr>
          <p:nvPr/>
        </p:nvSpPr>
        <p:spPr>
          <a:xfrm>
            <a:off x="4238625" y="1752600"/>
            <a:ext cx="3448050" cy="85725"/>
          </a:xfrm>
          <a:prstGeom prst="rect">
            <a:avLst/>
          </a:prstGeom>
          <a:solidFill>
            <a:srgbClr val="43E0C1"/>
          </a:solidFill>
          <a:ln w="0">
            <a:noFill/>
            <a:prstDash val="solid"/>
          </a:ln>
        </p:spPr>
        <p:txBody>
          <a:bodyPr/>
          <a:lstStyle/>
          <a:p>
            <a:endParaRPr lang="en-US"/>
          </a:p>
        </p:txBody>
      </p:sp>
      <p:sp>
        <p:nvSpPr>
          <p:cNvPr id="12" name="function-title-People &amp; access">
            <a:extLst>
              <a:ext uri="{FF2B5EF4-FFF2-40B4-BE49-F238E27FC236}">
                <a16:creationId xmlns:a16="http://schemas.microsoft.com/office/drawing/2014/main" id="{C2AC7A61-4E45-4CFC-82E3-3CA51C4BB0C7}"/>
              </a:ext>
            </a:extLst>
          </p:cNvPr>
          <p:cNvSpPr>
            <a:spLocks noGrp="1"/>
          </p:cNvSpPr>
          <p:nvPr/>
        </p:nvSpPr>
        <p:spPr>
          <a:xfrm>
            <a:off x="4467225" y="2047875"/>
            <a:ext cx="2952750" cy="428625"/>
          </a:xfrm>
          <a:prstGeom prst="rect">
            <a:avLst/>
          </a:prstGeom>
          <a:noFill/>
          <a:ln w="0">
            <a:noFill/>
            <a:prstDash val="solid"/>
          </a:ln>
        </p:spPr>
        <p:txBody>
          <a:bodyPr anchor="t"/>
          <a:lstStyle/>
          <a:p>
            <a:pPr algn="l">
              <a:defRPr sz="2025" b="1" i="0">
                <a:solidFill>
                  <a:srgbClr val="0B132B"/>
                </a:solidFill>
              </a:defRPr>
            </a:pPr>
            <a:r>
              <a:rPr sz="2025" b="1" i="0">
                <a:solidFill>
                  <a:srgbClr val="0B132B"/>
                </a:solidFill>
              </a:rPr>
              <a:t>People &amp; access</a:t>
            </a:r>
          </a:p>
        </p:txBody>
      </p:sp>
      <p:sp>
        <p:nvSpPr>
          <p:cNvPr id="13" name="function-text-People &amp; access">
            <a:extLst>
              <a:ext uri="{FF2B5EF4-FFF2-40B4-BE49-F238E27FC236}">
                <a16:creationId xmlns:a16="http://schemas.microsoft.com/office/drawing/2014/main" id="{7229409D-2136-44F3-93F2-9B607F57A5B2}"/>
              </a:ext>
            </a:extLst>
          </p:cNvPr>
          <p:cNvSpPr>
            <a:spLocks noGrp="1"/>
          </p:cNvSpPr>
          <p:nvPr/>
        </p:nvSpPr>
        <p:spPr>
          <a:xfrm>
            <a:off x="4467225" y="2638425"/>
            <a:ext cx="2952750" cy="2762250"/>
          </a:xfrm>
          <a:prstGeom prst="rect">
            <a:avLst/>
          </a:prstGeom>
          <a:noFill/>
          <a:ln w="0">
            <a:noFill/>
            <a:prstDash val="solid"/>
          </a:ln>
        </p:spPr>
        <p:txBody>
          <a:bodyPr anchor="t"/>
          <a:lstStyle/>
          <a:p>
            <a:pPr algn="l">
              <a:defRPr sz="1425" b="0" i="0">
                <a:solidFill>
                  <a:srgbClr val="0B132B"/>
                </a:solidFill>
              </a:defRPr>
            </a:pPr>
            <a:r>
              <a:rPr sz="1425" b="0" i="0">
                <a:solidFill>
                  <a:srgbClr val="0B132B"/>
                </a:solidFill>
              </a:rPr>
              <a:t>Users</a:t>
            </a:r>
          </a:p>
          <a:p>
            <a:pPr algn="l"/>
            <a:r>
              <a:rPr sz="1425" b="0" i="0">
                <a:solidFill>
                  <a:srgbClr val="0B132B"/>
                </a:solidFill>
              </a:rPr>
              <a:t>• Admin-managed accounts</a:t>
            </a:r>
          </a:p>
          <a:p>
            <a:pPr algn="l"/>
            <a:r>
              <a:rPr sz="1425" b="0" i="0">
                <a:solidFill>
                  <a:srgbClr val="0B132B"/>
                </a:solidFill>
              </a:rPr>
              <a:t>• Roles, departments, and active status</a:t>
            </a:r>
          </a:p>
          <a:p>
            <a:pPr algn="l"/>
            <a:r>
              <a:rPr sz="1425" b="0" i="0">
                <a:solidFill>
                  <a:srgbClr val="0B132B"/>
                </a:solidFill>
              </a:rPr>
              <a:t>• Password reset and account controls</a:t>
            </a:r>
          </a:p>
          <a:p>
            <a:pPr algn="l"/>
            <a:endParaRPr sz="1425" b="0" i="0">
              <a:solidFill>
                <a:srgbClr val="0B132B"/>
              </a:solidFill>
            </a:endParaRPr>
          </a:p>
          <a:p>
            <a:pPr algn="l"/>
            <a:r>
              <a:rPr sz="1425" b="0" i="0">
                <a:solidFill>
                  <a:srgbClr val="0B132B"/>
                </a:solidFill>
              </a:rPr>
              <a:t>Authentication</a:t>
            </a:r>
          </a:p>
          <a:p>
            <a:pPr algn="l"/>
            <a:r>
              <a:rPr sz="1425" b="0" i="0">
                <a:solidFill>
                  <a:srgbClr val="0B132B"/>
                </a:solidFill>
              </a:rPr>
              <a:t>• Login, refresh, and logout</a:t>
            </a:r>
          </a:p>
          <a:p>
            <a:pPr algn="l"/>
            <a:r>
              <a:rPr sz="1425" b="0" i="0">
                <a:solidFill>
                  <a:srgbClr val="0B132B"/>
                </a:solidFill>
              </a:rPr>
              <a:t>• Change password</a:t>
            </a:r>
          </a:p>
          <a:p>
            <a:pPr algn="l"/>
            <a:r>
              <a:rPr sz="1425" b="0" i="0">
                <a:solidFill>
                  <a:srgbClr val="0B132B"/>
                </a:solidFill>
              </a:rPr>
              <a:t>• Bootstrap administrator setup</a:t>
            </a:r>
          </a:p>
        </p:txBody>
      </p:sp>
      <p:sp>
        <p:nvSpPr>
          <p:cNvPr id="14" name="function-panel-Evidence">
            <a:extLst>
              <a:ext uri="{FF2B5EF4-FFF2-40B4-BE49-F238E27FC236}">
                <a16:creationId xmlns:a16="http://schemas.microsoft.com/office/drawing/2014/main" id="{4AE7D5A7-DCB6-465E-9796-E08F540116C8}"/>
              </a:ext>
            </a:extLst>
          </p:cNvPr>
          <p:cNvSpPr>
            <a:spLocks noGrp="1"/>
          </p:cNvSpPr>
          <p:nvPr/>
        </p:nvSpPr>
        <p:spPr>
          <a:xfrm>
            <a:off x="8077200" y="1752600"/>
            <a:ext cx="3448050" cy="4000500"/>
          </a:xfrm>
          <a:prstGeom prst="rect">
            <a:avLst/>
          </a:prstGeom>
          <a:solidFill>
            <a:srgbClr val="F6F7F9"/>
          </a:solidFill>
          <a:ln w="9525">
            <a:solidFill>
              <a:srgbClr val="B8BCC4"/>
            </a:solidFill>
            <a:prstDash val="solid"/>
          </a:ln>
        </p:spPr>
        <p:txBody>
          <a:bodyPr/>
          <a:lstStyle/>
          <a:p>
            <a:endParaRPr lang="en-US"/>
          </a:p>
        </p:txBody>
      </p:sp>
      <p:sp>
        <p:nvSpPr>
          <p:cNvPr id="15" name="function-accent-Evidence">
            <a:extLst>
              <a:ext uri="{FF2B5EF4-FFF2-40B4-BE49-F238E27FC236}">
                <a16:creationId xmlns:a16="http://schemas.microsoft.com/office/drawing/2014/main" id="{5BA3DF68-24E3-4562-AB27-C47298D85920}"/>
              </a:ext>
            </a:extLst>
          </p:cNvPr>
          <p:cNvSpPr>
            <a:spLocks noGrp="1"/>
          </p:cNvSpPr>
          <p:nvPr/>
        </p:nvSpPr>
        <p:spPr>
          <a:xfrm>
            <a:off x="8077200" y="1752600"/>
            <a:ext cx="3448050" cy="85725"/>
          </a:xfrm>
          <a:prstGeom prst="rect">
            <a:avLst/>
          </a:prstGeom>
          <a:solidFill>
            <a:srgbClr val="43E0C1"/>
          </a:solidFill>
          <a:ln w="0">
            <a:noFill/>
            <a:prstDash val="solid"/>
          </a:ln>
        </p:spPr>
        <p:txBody>
          <a:bodyPr/>
          <a:lstStyle/>
          <a:p>
            <a:endParaRPr lang="en-US"/>
          </a:p>
        </p:txBody>
      </p:sp>
      <p:sp>
        <p:nvSpPr>
          <p:cNvPr id="16" name="function-title-Evidence">
            <a:extLst>
              <a:ext uri="{FF2B5EF4-FFF2-40B4-BE49-F238E27FC236}">
                <a16:creationId xmlns:a16="http://schemas.microsoft.com/office/drawing/2014/main" id="{95524EDB-965B-40BF-9ACB-717B8A7E2E29}"/>
              </a:ext>
            </a:extLst>
          </p:cNvPr>
          <p:cNvSpPr>
            <a:spLocks noGrp="1"/>
          </p:cNvSpPr>
          <p:nvPr/>
        </p:nvSpPr>
        <p:spPr>
          <a:xfrm>
            <a:off x="8305800" y="2047875"/>
            <a:ext cx="2952750" cy="428625"/>
          </a:xfrm>
          <a:prstGeom prst="rect">
            <a:avLst/>
          </a:prstGeom>
          <a:noFill/>
          <a:ln w="0">
            <a:noFill/>
            <a:prstDash val="solid"/>
          </a:ln>
        </p:spPr>
        <p:txBody>
          <a:bodyPr anchor="t"/>
          <a:lstStyle/>
          <a:p>
            <a:pPr algn="l">
              <a:defRPr sz="2025" b="1" i="0">
                <a:solidFill>
                  <a:srgbClr val="0B132B"/>
                </a:solidFill>
              </a:defRPr>
            </a:pPr>
            <a:r>
              <a:rPr sz="2025" b="1" i="0">
                <a:solidFill>
                  <a:srgbClr val="0B132B"/>
                </a:solidFill>
              </a:rPr>
              <a:t>Evidence</a:t>
            </a:r>
          </a:p>
        </p:txBody>
      </p:sp>
      <p:sp>
        <p:nvSpPr>
          <p:cNvPr id="17" name="function-text-Evidence">
            <a:extLst>
              <a:ext uri="{FF2B5EF4-FFF2-40B4-BE49-F238E27FC236}">
                <a16:creationId xmlns:a16="http://schemas.microsoft.com/office/drawing/2014/main" id="{0972B485-D59E-4ADD-9C8C-8C3DD77074BD}"/>
              </a:ext>
            </a:extLst>
          </p:cNvPr>
          <p:cNvSpPr>
            <a:spLocks noGrp="1"/>
          </p:cNvSpPr>
          <p:nvPr/>
        </p:nvSpPr>
        <p:spPr>
          <a:xfrm>
            <a:off x="8305800" y="2638425"/>
            <a:ext cx="2952750" cy="2762250"/>
          </a:xfrm>
          <a:prstGeom prst="rect">
            <a:avLst/>
          </a:prstGeom>
          <a:noFill/>
          <a:ln w="0">
            <a:noFill/>
            <a:prstDash val="solid"/>
          </a:ln>
        </p:spPr>
        <p:txBody>
          <a:bodyPr anchor="t"/>
          <a:lstStyle/>
          <a:p>
            <a:pPr algn="l">
              <a:defRPr sz="1425" b="0" i="0">
                <a:solidFill>
                  <a:srgbClr val="0B132B"/>
                </a:solidFill>
              </a:defRPr>
            </a:pPr>
            <a:r>
              <a:rPr sz="1425" b="0" i="0">
                <a:solidFill>
                  <a:srgbClr val="0B132B"/>
                </a:solidFill>
              </a:rPr>
              <a:t>Reports</a:t>
            </a:r>
          </a:p>
          <a:p>
            <a:pPr algn="l"/>
            <a:r>
              <a:rPr sz="1425" b="0" i="0">
                <a:solidFill>
                  <a:srgbClr val="0B132B"/>
                </a:solidFill>
              </a:rPr>
              <a:t>• KPI overview</a:t>
            </a:r>
          </a:p>
          <a:p>
            <a:pPr algn="l"/>
            <a:r>
              <a:rPr sz="1425" b="0" i="0">
                <a:solidFill>
                  <a:srgbClr val="0B132B"/>
                </a:solidFill>
              </a:rPr>
              <a:t>• Asset, user, assignment, warranty, and lifecycle trends</a:t>
            </a:r>
          </a:p>
          <a:p>
            <a:pPr algn="l"/>
            <a:endParaRPr sz="1425" b="0" i="0">
              <a:solidFill>
                <a:srgbClr val="0B132B"/>
              </a:solidFill>
            </a:endParaRPr>
          </a:p>
          <a:p>
            <a:pPr algn="l"/>
            <a:r>
              <a:rPr sz="1425" b="0" i="0">
                <a:solidFill>
                  <a:srgbClr val="0B132B"/>
                </a:solidFill>
              </a:rPr>
              <a:t>History</a:t>
            </a:r>
          </a:p>
          <a:p>
            <a:pPr algn="l"/>
            <a:r>
              <a:rPr sz="1425" b="0" i="0">
                <a:solidFill>
                  <a:srgbClr val="0B132B"/>
                </a:solidFill>
              </a:rPr>
              <a:t>• Read-only audit logs</a:t>
            </a:r>
          </a:p>
          <a:p>
            <a:pPr algn="l"/>
            <a:r>
              <a:rPr sz="1425" b="0" i="0">
                <a:solidFill>
                  <a:srgbClr val="0B132B"/>
                </a:solidFill>
              </a:rPr>
              <a:t>• Lifecycle events and field changes</a:t>
            </a:r>
          </a:p>
          <a:p>
            <a:pPr algn="l"/>
            <a:r>
              <a:rPr sz="1425" b="0" i="0">
                <a:solidFill>
                  <a:srgbClr val="0B132B"/>
                </a:solidFill>
              </a:rPr>
              <a:t>• Actor, time, entity, and result context</a:t>
            </a:r>
          </a:p>
        </p:txBody>
      </p:sp>
    </p:spTree>
    <p:extLst>
      <p:ext uri="{BB962C8B-B14F-4D97-AF65-F5344CB8AC3E}">
        <p14:creationId xmlns:p14="http://schemas.microsoft.com/office/powerpoint/2010/main" val="494498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ection-6">
            <a:extLst>
              <a:ext uri="{FF2B5EF4-FFF2-40B4-BE49-F238E27FC236}">
                <a16:creationId xmlns:a16="http://schemas.microsoft.com/office/drawing/2014/main" id="{BB34E54D-F51E-41A8-B088-75B7A73D77EC}"/>
              </a:ext>
            </a:extLst>
          </p:cNvPr>
          <p:cNvSpPr>
            <a:spLocks noGrp="1"/>
          </p:cNvSpPr>
          <p:nvPr/>
        </p:nvSpPr>
        <p:spPr>
          <a:xfrm>
            <a:off x="400050" y="323850"/>
            <a:ext cx="2857500" cy="22860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NON-FUNCTIONAL REQUIREMENTS</a:t>
            </a:r>
          </a:p>
        </p:txBody>
      </p:sp>
      <p:sp>
        <p:nvSpPr>
          <p:cNvPr id="2" name="title-6">
            <a:extLst>
              <a:ext uri="{FF2B5EF4-FFF2-40B4-BE49-F238E27FC236}">
                <a16:creationId xmlns:a16="http://schemas.microsoft.com/office/drawing/2014/main" id="{99FCE023-1CB1-49C2-9F9F-045D1C1EB93C}"/>
              </a:ext>
            </a:extLst>
          </p:cNvPr>
          <p:cNvSpPr>
            <a:spLocks noGrp="1"/>
          </p:cNvSpPr>
          <p:nvPr/>
        </p:nvSpPr>
        <p:spPr>
          <a:xfrm>
            <a:off x="400050" y="628650"/>
            <a:ext cx="10839450" cy="628650"/>
          </a:xfrm>
          <a:prstGeom prst="rect">
            <a:avLst/>
          </a:prstGeom>
          <a:noFill/>
          <a:ln w="0">
            <a:noFill/>
            <a:prstDash val="solid"/>
          </a:ln>
        </p:spPr>
        <p:txBody>
          <a:bodyPr anchor="t"/>
          <a:lstStyle/>
          <a:p>
            <a:pPr algn="l">
              <a:defRPr sz="3225" b="1" i="0">
                <a:solidFill>
                  <a:srgbClr val="0B132B"/>
                </a:solidFill>
              </a:defRPr>
            </a:pPr>
            <a:r>
              <a:rPr sz="3225" b="1" i="0">
                <a:solidFill>
                  <a:srgbClr val="0B132B"/>
                </a:solidFill>
              </a:rPr>
              <a:t>Security is enforced beyond the visible interface</a:t>
            </a:r>
          </a:p>
        </p:txBody>
      </p:sp>
      <p:sp>
        <p:nvSpPr>
          <p:cNvPr id="3" name="rule-42-142">
            <a:extLst>
              <a:ext uri="{FF2B5EF4-FFF2-40B4-BE49-F238E27FC236}">
                <a16:creationId xmlns:a16="http://schemas.microsoft.com/office/drawing/2014/main" id="{73EE8445-B60E-4CE5-BFA5-396989E3A7DE}"/>
              </a:ext>
            </a:extLst>
          </p:cNvPr>
          <p:cNvSpPr>
            <a:spLocks noGrp="1"/>
          </p:cNvSpPr>
          <p:nvPr/>
        </p:nvSpPr>
        <p:spPr>
          <a:xfrm>
            <a:off x="400050" y="1352550"/>
            <a:ext cx="11391900" cy="19050"/>
          </a:xfrm>
          <a:prstGeom prst="rect">
            <a:avLst/>
          </a:prstGeom>
          <a:solidFill>
            <a:srgbClr val="0B132B"/>
          </a:solidFill>
          <a:ln w="0">
            <a:noFill/>
            <a:prstDash val="solid"/>
          </a:ln>
        </p:spPr>
        <p:txBody>
          <a:bodyPr/>
          <a:lstStyle/>
          <a:p>
            <a:endParaRPr lang="en-US"/>
          </a:p>
        </p:txBody>
      </p:sp>
      <p:sp>
        <p:nvSpPr>
          <p:cNvPr id="4" name="footer-label-6">
            <a:extLst>
              <a:ext uri="{FF2B5EF4-FFF2-40B4-BE49-F238E27FC236}">
                <a16:creationId xmlns:a16="http://schemas.microsoft.com/office/drawing/2014/main" id="{C11612A1-4B11-44C2-9CBD-A1F3403D5F65}"/>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5" name="footer-number-6">
            <a:extLst>
              <a:ext uri="{FF2B5EF4-FFF2-40B4-BE49-F238E27FC236}">
                <a16:creationId xmlns:a16="http://schemas.microsoft.com/office/drawing/2014/main" id="{3A1D6B81-34F2-49F2-8BF1-9835FB16EA63}"/>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6</a:t>
            </a:r>
          </a:p>
        </p:txBody>
      </p:sp>
      <p:sp>
        <p:nvSpPr>
          <p:cNvPr id="6" name="security-left-label">
            <a:extLst>
              <a:ext uri="{FF2B5EF4-FFF2-40B4-BE49-F238E27FC236}">
                <a16:creationId xmlns:a16="http://schemas.microsoft.com/office/drawing/2014/main" id="{140BFBE7-6EF9-4FEB-A63A-63EE15F0DC4E}"/>
              </a:ext>
            </a:extLst>
          </p:cNvPr>
          <p:cNvSpPr>
            <a:spLocks noGrp="1"/>
          </p:cNvSpPr>
          <p:nvPr/>
        </p:nvSpPr>
        <p:spPr>
          <a:xfrm>
            <a:off x="571500" y="1771650"/>
            <a:ext cx="4762500" cy="26670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IDENTITY &amp; SESSION</a:t>
            </a:r>
          </a:p>
        </p:txBody>
      </p:sp>
      <p:sp>
        <p:nvSpPr>
          <p:cNvPr id="7" name="security-left">
            <a:extLst>
              <a:ext uri="{FF2B5EF4-FFF2-40B4-BE49-F238E27FC236}">
                <a16:creationId xmlns:a16="http://schemas.microsoft.com/office/drawing/2014/main" id="{986878C0-51FB-4430-9705-B80EDA02E719}"/>
              </a:ext>
            </a:extLst>
          </p:cNvPr>
          <p:cNvSpPr>
            <a:spLocks noGrp="1"/>
          </p:cNvSpPr>
          <p:nvPr/>
        </p:nvSpPr>
        <p:spPr>
          <a:xfrm>
            <a:off x="571500" y="2209800"/>
            <a:ext cx="4762500" cy="2647950"/>
          </a:xfrm>
          <a:prstGeom prst="rect">
            <a:avLst/>
          </a:prstGeom>
          <a:noFill/>
          <a:ln w="0">
            <a:noFill/>
            <a:prstDash val="solid"/>
          </a:ln>
        </p:spPr>
        <p:txBody>
          <a:bodyPr anchor="t"/>
          <a:lstStyle/>
          <a:p>
            <a:pPr algn="l">
              <a:defRPr sz="1800" b="0" i="0">
                <a:solidFill>
                  <a:srgbClr val="0B132B"/>
                </a:solidFill>
              </a:defRPr>
            </a:pPr>
            <a:r>
              <a:rPr sz="1800" b="0" i="0">
                <a:solidFill>
                  <a:srgbClr val="0B132B"/>
                </a:solidFill>
              </a:rPr>
              <a:t>JWT access tokens</a:t>
            </a:r>
          </a:p>
          <a:p>
            <a:pPr algn="l"/>
            <a:r>
              <a:rPr sz="1800" b="0" i="0">
                <a:solidFill>
                  <a:srgbClr val="0B132B"/>
                </a:solidFill>
              </a:rPr>
              <a:t>Server-side refresh sessions</a:t>
            </a:r>
          </a:p>
          <a:p>
            <a:pPr algn="l"/>
            <a:r>
              <a:rPr sz="1800" b="0" i="0">
                <a:solidFill>
                  <a:srgbClr val="0B132B"/>
                </a:solidFill>
              </a:rPr>
              <a:t>Refresh-token rotation</a:t>
            </a:r>
          </a:p>
          <a:p>
            <a:pPr algn="l"/>
            <a:r>
              <a:rPr sz="1800" b="0" i="0">
                <a:solidFill>
                  <a:srgbClr val="0B132B"/>
                </a:solidFill>
              </a:rPr>
              <a:t>Password hashing</a:t>
            </a:r>
          </a:p>
          <a:p>
            <a:pPr algn="l"/>
            <a:r>
              <a:rPr sz="1800" b="0" i="0">
                <a:solidFill>
                  <a:srgbClr val="0B132B"/>
                </a:solidFill>
              </a:rPr>
              <a:t>Account lockout</a:t>
            </a:r>
          </a:p>
          <a:p>
            <a:pPr algn="l"/>
            <a:r>
              <a:rPr sz="1800" b="0" i="0">
                <a:solidFill>
                  <a:srgbClr val="0B132B"/>
                </a:solidFill>
              </a:rPr>
              <a:t>Session revocation after sensitive changes</a:t>
            </a:r>
          </a:p>
        </p:txBody>
      </p:sp>
      <p:sp>
        <p:nvSpPr>
          <p:cNvPr id="8" name="security-right-label">
            <a:extLst>
              <a:ext uri="{FF2B5EF4-FFF2-40B4-BE49-F238E27FC236}">
                <a16:creationId xmlns:a16="http://schemas.microsoft.com/office/drawing/2014/main" id="{5264AEAF-BDD9-4C6B-B08E-60D70A87A538}"/>
              </a:ext>
            </a:extLst>
          </p:cNvPr>
          <p:cNvSpPr>
            <a:spLocks noGrp="1"/>
          </p:cNvSpPr>
          <p:nvPr/>
        </p:nvSpPr>
        <p:spPr>
          <a:xfrm>
            <a:off x="6429375" y="1771650"/>
            <a:ext cx="4762500" cy="26670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AUTHORIZATION &amp; HARDENING</a:t>
            </a:r>
          </a:p>
        </p:txBody>
      </p:sp>
      <p:sp>
        <p:nvSpPr>
          <p:cNvPr id="9" name="security-right">
            <a:extLst>
              <a:ext uri="{FF2B5EF4-FFF2-40B4-BE49-F238E27FC236}">
                <a16:creationId xmlns:a16="http://schemas.microsoft.com/office/drawing/2014/main" id="{F18A5BA1-A092-4360-872C-5F3E0D8A02DA}"/>
              </a:ext>
            </a:extLst>
          </p:cNvPr>
          <p:cNvSpPr>
            <a:spLocks noGrp="1"/>
          </p:cNvSpPr>
          <p:nvPr/>
        </p:nvSpPr>
        <p:spPr>
          <a:xfrm>
            <a:off x="6429375" y="2209800"/>
            <a:ext cx="4762500" cy="2857500"/>
          </a:xfrm>
          <a:prstGeom prst="rect">
            <a:avLst/>
          </a:prstGeom>
          <a:noFill/>
          <a:ln w="0">
            <a:noFill/>
            <a:prstDash val="solid"/>
          </a:ln>
        </p:spPr>
        <p:txBody>
          <a:bodyPr anchor="t"/>
          <a:lstStyle/>
          <a:p>
            <a:pPr algn="l">
              <a:defRPr sz="1800" b="0" i="0">
                <a:solidFill>
                  <a:srgbClr val="0B132B"/>
                </a:solidFill>
              </a:defRPr>
            </a:pPr>
            <a:r>
              <a:rPr sz="1800" b="0" i="0">
                <a:solidFill>
                  <a:srgbClr val="0B132B"/>
                </a:solidFill>
              </a:rPr>
              <a:t>Role policies for Admin, Manager, Technician, Auditor, and User</a:t>
            </a:r>
          </a:p>
          <a:p>
            <a:pPr algn="l"/>
            <a:r>
              <a:rPr sz="1800" b="0" i="0">
                <a:solidFill>
                  <a:srgbClr val="0B132B"/>
                </a:solidFill>
              </a:rPr>
              <a:t>Auditor read-only controls</a:t>
            </a:r>
          </a:p>
          <a:p>
            <a:pPr algn="l"/>
            <a:r>
              <a:rPr sz="1800" b="0" i="0">
                <a:solidFill>
                  <a:srgbClr val="0B132B"/>
                </a:solidFill>
              </a:rPr>
              <a:t>Rate limiting and request-size limits</a:t>
            </a:r>
          </a:p>
          <a:p>
            <a:pPr algn="l"/>
            <a:r>
              <a:rPr sz="1800" b="0" i="0">
                <a:solidFill>
                  <a:srgbClr val="0B132B"/>
                </a:solidFill>
              </a:rPr>
              <a:t>CORS and security headers</a:t>
            </a:r>
          </a:p>
          <a:p>
            <a:pPr algn="l"/>
            <a:r>
              <a:rPr sz="1800" b="0" i="0">
                <a:solidFill>
                  <a:srgbClr val="0B132B"/>
                </a:solidFill>
              </a:rPr>
              <a:t>Generic login failure responses</a:t>
            </a:r>
          </a:p>
          <a:p>
            <a:pPr algn="l"/>
            <a:r>
              <a:rPr sz="1800" b="0" i="0">
                <a:solidFill>
                  <a:srgbClr val="0B132B"/>
                </a:solidFill>
              </a:rPr>
              <a:t>Server-side validation on protected routes</a:t>
            </a:r>
          </a:p>
        </p:txBody>
      </p:sp>
      <p:sp>
        <p:nvSpPr>
          <p:cNvPr id="10" name="security-takeaway">
            <a:extLst>
              <a:ext uri="{FF2B5EF4-FFF2-40B4-BE49-F238E27FC236}">
                <a16:creationId xmlns:a16="http://schemas.microsoft.com/office/drawing/2014/main" id="{38B3CB69-E155-4813-826C-7D9F21180598}"/>
              </a:ext>
            </a:extLst>
          </p:cNvPr>
          <p:cNvSpPr>
            <a:spLocks noGrp="1"/>
          </p:cNvSpPr>
          <p:nvPr/>
        </p:nvSpPr>
        <p:spPr>
          <a:xfrm>
            <a:off x="571500" y="5286375"/>
            <a:ext cx="10620375" cy="762000"/>
          </a:xfrm>
          <a:prstGeom prst="roundRect">
            <a:avLst>
              <a:gd name="adj" fmla="val 15000"/>
            </a:avLst>
          </a:prstGeom>
          <a:solidFill>
            <a:srgbClr val="1C2541"/>
          </a:solidFill>
          <a:ln w="0">
            <a:noFill/>
            <a:prstDash val="solid"/>
          </a:ln>
        </p:spPr>
        <p:txBody>
          <a:bodyPr/>
          <a:lstStyle/>
          <a:p>
            <a:endParaRPr lang="en-US"/>
          </a:p>
        </p:txBody>
      </p:sp>
      <p:sp>
        <p:nvSpPr>
          <p:cNvPr id="11" name="security-takeaway-text">
            <a:extLst>
              <a:ext uri="{FF2B5EF4-FFF2-40B4-BE49-F238E27FC236}">
                <a16:creationId xmlns:a16="http://schemas.microsoft.com/office/drawing/2014/main" id="{485D4086-049A-4D90-80DC-18DB45A7EE33}"/>
              </a:ext>
            </a:extLst>
          </p:cNvPr>
          <p:cNvSpPr>
            <a:spLocks noGrp="1"/>
          </p:cNvSpPr>
          <p:nvPr/>
        </p:nvSpPr>
        <p:spPr>
          <a:xfrm>
            <a:off x="857250" y="5505450"/>
            <a:ext cx="10048875" cy="333375"/>
          </a:xfrm>
          <a:prstGeom prst="rect">
            <a:avLst/>
          </a:prstGeom>
          <a:noFill/>
          <a:ln w="0">
            <a:noFill/>
            <a:prstDash val="solid"/>
          </a:ln>
        </p:spPr>
        <p:txBody>
          <a:bodyPr anchor="t"/>
          <a:lstStyle/>
          <a:p>
            <a:pPr algn="ctr">
              <a:defRPr sz="1950" b="1" i="0">
                <a:solidFill>
                  <a:srgbClr val="FFFFFF"/>
                </a:solidFill>
              </a:defRPr>
            </a:pPr>
            <a:r>
              <a:rPr sz="1950" b="1" i="0">
                <a:solidFill>
                  <a:srgbClr val="FFFFFF"/>
                </a:solidFill>
              </a:rPr>
              <a:t>The UI can hide an action, but the API policy is what blocks unauthorized access.</a:t>
            </a:r>
          </a:p>
        </p:txBody>
      </p:sp>
    </p:spTree>
    <p:extLst>
      <p:ext uri="{BB962C8B-B14F-4D97-AF65-F5344CB8AC3E}">
        <p14:creationId xmlns:p14="http://schemas.microsoft.com/office/powerpoint/2010/main" val="918271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demo-eyebrow">
            <a:extLst>
              <a:ext uri="{FF2B5EF4-FFF2-40B4-BE49-F238E27FC236}">
                <a16:creationId xmlns:a16="http://schemas.microsoft.com/office/drawing/2014/main" id="{D6B673A7-6C4E-4C35-A10F-F348E93EFD65}"/>
              </a:ext>
            </a:extLst>
          </p:cNvPr>
          <p:cNvSpPr>
            <a:spLocks noGrp="1"/>
          </p:cNvSpPr>
          <p:nvPr/>
        </p:nvSpPr>
        <p:spPr>
          <a:xfrm>
            <a:off x="400050" y="361950"/>
            <a:ext cx="3048000" cy="24765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LIVE DEMONSTRATION</a:t>
            </a:r>
          </a:p>
        </p:txBody>
      </p:sp>
      <p:sp>
        <p:nvSpPr>
          <p:cNvPr id="2" name="demo-title">
            <a:extLst>
              <a:ext uri="{FF2B5EF4-FFF2-40B4-BE49-F238E27FC236}">
                <a16:creationId xmlns:a16="http://schemas.microsoft.com/office/drawing/2014/main" id="{250F1A5F-56B3-4CFF-9E4A-3B559BAD9F36}"/>
              </a:ext>
            </a:extLst>
          </p:cNvPr>
          <p:cNvSpPr>
            <a:spLocks noGrp="1"/>
          </p:cNvSpPr>
          <p:nvPr/>
        </p:nvSpPr>
        <p:spPr>
          <a:xfrm>
            <a:off x="400050" y="742950"/>
            <a:ext cx="5334000" cy="1000125"/>
          </a:xfrm>
          <a:prstGeom prst="rect">
            <a:avLst/>
          </a:prstGeom>
          <a:noFill/>
          <a:ln w="0">
            <a:noFill/>
            <a:prstDash val="solid"/>
          </a:ln>
        </p:spPr>
        <p:txBody>
          <a:bodyPr anchor="t"/>
          <a:lstStyle/>
          <a:p>
            <a:pPr algn="l">
              <a:defRPr sz="3450" b="1" i="0">
                <a:solidFill>
                  <a:srgbClr val="0B132B"/>
                </a:solidFill>
              </a:defRPr>
            </a:pPr>
            <a:r>
              <a:rPr sz="3450" b="1" i="0">
                <a:solidFill>
                  <a:srgbClr val="0B132B"/>
                </a:solidFill>
              </a:rPr>
              <a:t>Demonstrating the finished production workflow</a:t>
            </a:r>
          </a:p>
        </p:txBody>
      </p:sp>
      <p:sp>
        <p:nvSpPr>
          <p:cNvPr id="3" name="demo-time">
            <a:extLst>
              <a:ext uri="{FF2B5EF4-FFF2-40B4-BE49-F238E27FC236}">
                <a16:creationId xmlns:a16="http://schemas.microsoft.com/office/drawing/2014/main" id="{4CC06E13-1F39-4910-8980-DF0018D17715}"/>
              </a:ext>
            </a:extLst>
          </p:cNvPr>
          <p:cNvSpPr>
            <a:spLocks noGrp="1"/>
          </p:cNvSpPr>
          <p:nvPr/>
        </p:nvSpPr>
        <p:spPr>
          <a:xfrm>
            <a:off x="400050" y="1857375"/>
            <a:ext cx="4762500" cy="333375"/>
          </a:xfrm>
          <a:prstGeom prst="rect">
            <a:avLst/>
          </a:prstGeom>
          <a:noFill/>
          <a:ln w="0">
            <a:noFill/>
            <a:prstDash val="solid"/>
          </a:ln>
        </p:spPr>
        <p:txBody>
          <a:bodyPr anchor="t"/>
          <a:lstStyle/>
          <a:p>
            <a:pPr algn="l">
              <a:defRPr sz="1650" b="1" i="0">
                <a:solidFill>
                  <a:srgbClr val="137D72"/>
                </a:solidFill>
              </a:defRPr>
            </a:pPr>
            <a:r>
              <a:rPr sz="1650" b="1" i="0">
                <a:solidFill>
                  <a:srgbClr val="137D72"/>
                </a:solidFill>
              </a:rPr>
              <a:t>Production workflow walkthrough</a:t>
            </a:r>
          </a:p>
        </p:txBody>
      </p:sp>
      <p:sp>
        <p:nvSpPr>
          <p:cNvPr id="4" name="demo-item-260">
            <a:extLst>
              <a:ext uri="{FF2B5EF4-FFF2-40B4-BE49-F238E27FC236}">
                <a16:creationId xmlns:a16="http://schemas.microsoft.com/office/drawing/2014/main" id="{034E3B88-8BCF-4A8B-A8C8-A0DC9EE67117}"/>
              </a:ext>
            </a:extLst>
          </p:cNvPr>
          <p:cNvSpPr>
            <a:spLocks noGrp="1"/>
          </p:cNvSpPr>
          <p:nvPr/>
        </p:nvSpPr>
        <p:spPr>
          <a:xfrm>
            <a:off x="400050" y="2476500"/>
            <a:ext cx="5524500" cy="438150"/>
          </a:xfrm>
          <a:prstGeom prst="rect">
            <a:avLst/>
          </a:prstGeom>
          <a:noFill/>
          <a:ln w="0">
            <a:noFill/>
            <a:prstDash val="solid"/>
          </a:ln>
        </p:spPr>
        <p:txBody>
          <a:bodyPr anchor="t"/>
          <a:lstStyle/>
          <a:p>
            <a:pPr algn="l">
              <a:defRPr sz="1575" b="1" i="0">
                <a:solidFill>
                  <a:srgbClr val="0B132B"/>
                </a:solidFill>
              </a:defRPr>
            </a:pPr>
            <a:r>
              <a:rPr sz="1575" b="1" i="0">
                <a:solidFill>
                  <a:srgbClr val="0B132B"/>
                </a:solidFill>
              </a:rPr>
              <a:t>1  Sign in and confirm role-aware navigation</a:t>
            </a:r>
          </a:p>
        </p:txBody>
      </p:sp>
      <p:sp>
        <p:nvSpPr>
          <p:cNvPr id="5" name="demo-item-316">
            <a:extLst>
              <a:ext uri="{FF2B5EF4-FFF2-40B4-BE49-F238E27FC236}">
                <a16:creationId xmlns:a16="http://schemas.microsoft.com/office/drawing/2014/main" id="{664C93D6-CEAE-40BB-A83E-D9DD15144E84}"/>
              </a:ext>
            </a:extLst>
          </p:cNvPr>
          <p:cNvSpPr>
            <a:spLocks noGrp="1"/>
          </p:cNvSpPr>
          <p:nvPr/>
        </p:nvSpPr>
        <p:spPr>
          <a:xfrm>
            <a:off x="400050" y="3009900"/>
            <a:ext cx="5524500" cy="438150"/>
          </a:xfrm>
          <a:prstGeom prst="rect">
            <a:avLst/>
          </a:prstGeom>
          <a:noFill/>
          <a:ln w="0">
            <a:noFill/>
            <a:prstDash val="solid"/>
          </a:ln>
        </p:spPr>
        <p:txBody>
          <a:bodyPr anchor="t"/>
          <a:lstStyle/>
          <a:p>
            <a:pPr algn="l">
              <a:defRPr sz="1575" b="1" i="0">
                <a:solidFill>
                  <a:srgbClr val="0B132B"/>
                </a:solidFill>
              </a:defRPr>
            </a:pPr>
            <a:r>
              <a:rPr sz="1575" b="1" i="0">
                <a:solidFill>
                  <a:srgbClr val="0B132B"/>
                </a:solidFill>
              </a:rPr>
              <a:t>2  Create or update an asset record</a:t>
            </a:r>
          </a:p>
        </p:txBody>
      </p:sp>
      <p:sp>
        <p:nvSpPr>
          <p:cNvPr id="6" name="demo-item-372">
            <a:extLst>
              <a:ext uri="{FF2B5EF4-FFF2-40B4-BE49-F238E27FC236}">
                <a16:creationId xmlns:a16="http://schemas.microsoft.com/office/drawing/2014/main" id="{B16DE270-E51C-45C6-895B-1014ED9EEE57}"/>
              </a:ext>
            </a:extLst>
          </p:cNvPr>
          <p:cNvSpPr>
            <a:spLocks noGrp="1"/>
          </p:cNvSpPr>
          <p:nvPr/>
        </p:nvSpPr>
        <p:spPr>
          <a:xfrm>
            <a:off x="400050" y="3543300"/>
            <a:ext cx="5524500" cy="438150"/>
          </a:xfrm>
          <a:prstGeom prst="rect">
            <a:avLst/>
          </a:prstGeom>
          <a:noFill/>
          <a:ln w="0">
            <a:noFill/>
            <a:prstDash val="solid"/>
          </a:ln>
        </p:spPr>
        <p:txBody>
          <a:bodyPr anchor="t"/>
          <a:lstStyle/>
          <a:p>
            <a:pPr algn="l">
              <a:defRPr sz="1575" b="1" i="0">
                <a:solidFill>
                  <a:srgbClr val="0B132B"/>
                </a:solidFill>
              </a:defRPr>
            </a:pPr>
            <a:r>
              <a:rPr sz="1575" b="1" i="0">
                <a:solidFill>
                  <a:srgbClr val="0B132B"/>
                </a:solidFill>
              </a:rPr>
              <a:t>3  Open and close an assignment</a:t>
            </a:r>
          </a:p>
        </p:txBody>
      </p:sp>
      <p:sp>
        <p:nvSpPr>
          <p:cNvPr id="7" name="demo-item-428">
            <a:extLst>
              <a:ext uri="{FF2B5EF4-FFF2-40B4-BE49-F238E27FC236}">
                <a16:creationId xmlns:a16="http://schemas.microsoft.com/office/drawing/2014/main" id="{6B97B84D-FB0D-4FCA-875F-47FF15BA0C6B}"/>
              </a:ext>
            </a:extLst>
          </p:cNvPr>
          <p:cNvSpPr>
            <a:spLocks noGrp="1"/>
          </p:cNvSpPr>
          <p:nvPr/>
        </p:nvSpPr>
        <p:spPr>
          <a:xfrm>
            <a:off x="400050" y="4076700"/>
            <a:ext cx="5524500" cy="438150"/>
          </a:xfrm>
          <a:prstGeom prst="rect">
            <a:avLst/>
          </a:prstGeom>
          <a:noFill/>
          <a:ln w="0">
            <a:noFill/>
            <a:prstDash val="solid"/>
          </a:ln>
        </p:spPr>
        <p:txBody>
          <a:bodyPr anchor="t"/>
          <a:lstStyle/>
          <a:p>
            <a:pPr algn="l">
              <a:defRPr sz="1575" b="1" i="0">
                <a:solidFill>
                  <a:srgbClr val="0B132B"/>
                </a:solidFill>
              </a:defRPr>
            </a:pPr>
            <a:r>
              <a:rPr sz="1575" b="1" i="0">
                <a:solidFill>
                  <a:srgbClr val="0B132B"/>
                </a:solidFill>
              </a:rPr>
              <a:t>4  Review user administration and authorization behavior</a:t>
            </a:r>
          </a:p>
        </p:txBody>
      </p:sp>
      <p:sp>
        <p:nvSpPr>
          <p:cNvPr id="8" name="demo-item-484">
            <a:extLst>
              <a:ext uri="{FF2B5EF4-FFF2-40B4-BE49-F238E27FC236}">
                <a16:creationId xmlns:a16="http://schemas.microsoft.com/office/drawing/2014/main" id="{A6460FA8-2DF7-4524-8A20-F8A9E604CF0A}"/>
              </a:ext>
            </a:extLst>
          </p:cNvPr>
          <p:cNvSpPr>
            <a:spLocks noGrp="1"/>
          </p:cNvSpPr>
          <p:nvPr/>
        </p:nvSpPr>
        <p:spPr>
          <a:xfrm>
            <a:off x="400050" y="4610100"/>
            <a:ext cx="5524500" cy="438150"/>
          </a:xfrm>
          <a:prstGeom prst="rect">
            <a:avLst/>
          </a:prstGeom>
          <a:noFill/>
          <a:ln w="0">
            <a:noFill/>
            <a:prstDash val="solid"/>
          </a:ln>
        </p:spPr>
        <p:txBody>
          <a:bodyPr anchor="t"/>
          <a:lstStyle/>
          <a:p>
            <a:pPr algn="l">
              <a:defRPr sz="1575" b="1" i="0">
                <a:solidFill>
                  <a:srgbClr val="0B132B"/>
                </a:solidFill>
              </a:defRPr>
            </a:pPr>
            <a:r>
              <a:rPr sz="1575" b="1" i="0">
                <a:solidFill>
                  <a:srgbClr val="0B132B"/>
                </a:solidFill>
              </a:rPr>
              <a:t>5  Show reports, audit logs, and lifecycle history</a:t>
            </a:r>
          </a:p>
        </p:txBody>
      </p:sp>
      <p:sp>
        <p:nvSpPr>
          <p:cNvPr id="9" name="demo-item-540">
            <a:extLst>
              <a:ext uri="{FF2B5EF4-FFF2-40B4-BE49-F238E27FC236}">
                <a16:creationId xmlns:a16="http://schemas.microsoft.com/office/drawing/2014/main" id="{749597F3-A9E7-44AF-A415-FE9E5C8CC765}"/>
              </a:ext>
            </a:extLst>
          </p:cNvPr>
          <p:cNvSpPr>
            <a:spLocks noGrp="1"/>
          </p:cNvSpPr>
          <p:nvPr/>
        </p:nvSpPr>
        <p:spPr>
          <a:xfrm>
            <a:off x="400050" y="5143500"/>
            <a:ext cx="5524500" cy="438150"/>
          </a:xfrm>
          <a:prstGeom prst="rect">
            <a:avLst/>
          </a:prstGeom>
          <a:noFill/>
          <a:ln w="0">
            <a:noFill/>
            <a:prstDash val="solid"/>
          </a:ln>
        </p:spPr>
        <p:txBody>
          <a:bodyPr anchor="t"/>
          <a:lstStyle/>
          <a:p>
            <a:pPr algn="l">
              <a:defRPr sz="1575" b="1" i="0">
                <a:solidFill>
                  <a:srgbClr val="0B132B"/>
                </a:solidFill>
              </a:defRPr>
            </a:pPr>
            <a:r>
              <a:rPr sz="1575" b="1" i="0">
                <a:solidFill>
                  <a:srgbClr val="0B132B"/>
                </a:solidFill>
              </a:rPr>
              <a:t>6  Sign out and confirm session revocation</a:t>
            </a:r>
          </a:p>
        </p:txBody>
      </p:sp>
      <p:sp>
        <p:nvSpPr>
          <p:cNvPr id="10" name="demo-image-field">
            <a:extLst>
              <a:ext uri="{FF2B5EF4-FFF2-40B4-BE49-F238E27FC236}">
                <a16:creationId xmlns:a16="http://schemas.microsoft.com/office/drawing/2014/main" id="{A1AC1A05-E60D-4B2C-AFFD-0E5873D5A5EE}"/>
              </a:ext>
            </a:extLst>
          </p:cNvPr>
          <p:cNvSpPr>
            <a:spLocks noGrp="1"/>
          </p:cNvSpPr>
          <p:nvPr/>
        </p:nvSpPr>
        <p:spPr>
          <a:xfrm>
            <a:off x="6191250" y="0"/>
            <a:ext cx="6000750" cy="6858000"/>
          </a:xfrm>
          <a:prstGeom prst="rect">
            <a:avLst/>
          </a:prstGeom>
          <a:solidFill>
            <a:srgbClr val="1C2541"/>
          </a:solidFill>
          <a:ln w="0">
            <a:noFill/>
            <a:prstDash val="solid"/>
          </a:ln>
        </p:spPr>
        <p:txBody>
          <a:bodyPr/>
          <a:lstStyle/>
          <a:p>
            <a:endParaRPr lang="en-US"/>
          </a:p>
        </p:txBody>
      </p:sp>
      <p:sp>
        <p:nvSpPr>
          <p:cNvPr id="11" name="demo-image-label">
            <a:extLst>
              <a:ext uri="{FF2B5EF4-FFF2-40B4-BE49-F238E27FC236}">
                <a16:creationId xmlns:a16="http://schemas.microsoft.com/office/drawing/2014/main" id="{E87E5AF5-CA19-41A1-8F25-8E1DD4092DC0}"/>
              </a:ext>
            </a:extLst>
          </p:cNvPr>
          <p:cNvSpPr>
            <a:spLocks noGrp="1"/>
          </p:cNvSpPr>
          <p:nvPr/>
        </p:nvSpPr>
        <p:spPr>
          <a:xfrm>
            <a:off x="6572250" y="685800"/>
            <a:ext cx="5238750" cy="285750"/>
          </a:xfrm>
          <a:prstGeom prst="rect">
            <a:avLst/>
          </a:prstGeom>
          <a:noFill/>
          <a:ln w="0">
            <a:noFill/>
            <a:prstDash val="solid"/>
          </a:ln>
        </p:spPr>
        <p:txBody>
          <a:bodyPr anchor="t"/>
          <a:lstStyle/>
          <a:p>
            <a:pPr algn="ctr">
              <a:defRPr sz="1200" b="1" i="0">
                <a:solidFill>
                  <a:srgbClr val="43E0C1"/>
                </a:solidFill>
              </a:defRPr>
            </a:pPr>
            <a:r>
              <a:rPr sz="1200" b="1" i="0">
                <a:solidFill>
                  <a:srgbClr val="43E0C1"/>
                </a:solidFill>
              </a:rPr>
              <a:t>LIVE APPLICATION</a:t>
            </a:r>
          </a:p>
        </p:txBody>
      </p:sp>
      <p:pic>
        <p:nvPicPr>
          <p:cNvPr id="27" name="Picture 26"/>
          <p:cNvPicPr>
            <a:picLocks noChangeAspect="1"/>
          </p:cNvPicPr>
          <p:nvPr/>
        </p:nvPicPr>
        <p:blipFill>
          <a:blip r:embed="rId3"/>
          <a:stretch/>
        </p:blipFill>
        <p:spPr>
          <a:xfrm>
            <a:off x="6477000" y="1201936"/>
            <a:ext cx="5429250" cy="3053953"/>
          </a:xfrm>
          <a:prstGeom prst="rect">
            <a:avLst/>
          </a:prstGeom>
        </p:spPr>
      </p:pic>
      <p:sp>
        <p:nvSpPr>
          <p:cNvPr id="13" name="demo-safety">
            <a:extLst>
              <a:ext uri="{FF2B5EF4-FFF2-40B4-BE49-F238E27FC236}">
                <a16:creationId xmlns:a16="http://schemas.microsoft.com/office/drawing/2014/main" id="{875B49FC-5A23-4AFC-B4A4-DCBD52E6A040}"/>
              </a:ext>
            </a:extLst>
          </p:cNvPr>
          <p:cNvSpPr>
            <a:spLocks noGrp="1"/>
          </p:cNvSpPr>
          <p:nvPr/>
        </p:nvSpPr>
        <p:spPr>
          <a:xfrm>
            <a:off x="6762750" y="4667250"/>
            <a:ext cx="4857750" cy="666750"/>
          </a:xfrm>
          <a:prstGeom prst="rect">
            <a:avLst/>
          </a:prstGeom>
          <a:noFill/>
          <a:ln w="0">
            <a:noFill/>
            <a:prstDash val="solid"/>
          </a:ln>
        </p:spPr>
        <p:txBody>
          <a:bodyPr anchor="t"/>
          <a:lstStyle/>
          <a:p>
            <a:pPr algn="ctr">
              <a:defRPr sz="1500" b="0" i="0">
                <a:solidFill>
                  <a:srgbClr val="FFFFFF"/>
                </a:solidFill>
              </a:defRPr>
            </a:pPr>
            <a:r>
              <a:rPr sz="1500" b="0" i="0">
                <a:solidFill>
                  <a:srgbClr val="FFFFFF"/>
                </a:solidFill>
              </a:rPr>
              <a:t>A complete workflow from secure sign-in</a:t>
            </a:r>
          </a:p>
          <a:p>
            <a:pPr algn="ctr"/>
            <a:r>
              <a:rPr sz="1500" b="0" i="0">
                <a:solidFill>
                  <a:srgbClr val="FFFFFF"/>
                </a:solidFill>
              </a:rPr>
              <a:t>to operational evidence and sign-out.</a:t>
            </a:r>
          </a:p>
        </p:txBody>
      </p:sp>
      <p:sp>
        <p:nvSpPr>
          <p:cNvPr id="14" name="demo-url">
            <a:extLst>
              <a:ext uri="{FF2B5EF4-FFF2-40B4-BE49-F238E27FC236}">
                <a16:creationId xmlns:a16="http://schemas.microsoft.com/office/drawing/2014/main" id="{AB9045D2-788B-4684-BF3D-69671736D980}"/>
              </a:ext>
            </a:extLst>
          </p:cNvPr>
          <p:cNvSpPr>
            <a:spLocks noGrp="1"/>
          </p:cNvSpPr>
          <p:nvPr/>
        </p:nvSpPr>
        <p:spPr>
          <a:xfrm>
            <a:off x="6572250" y="5810250"/>
            <a:ext cx="5238750" cy="400050"/>
          </a:xfrm>
          <a:prstGeom prst="rect">
            <a:avLst/>
          </a:prstGeom>
          <a:noFill/>
          <a:ln w="0">
            <a:noFill/>
            <a:prstDash val="solid"/>
          </a:ln>
        </p:spPr>
        <p:txBody>
          <a:bodyPr anchor="t"/>
          <a:lstStyle/>
          <a:p>
            <a:pPr algn="ctr">
              <a:defRPr sz="2025" b="1" i="0">
                <a:solidFill>
                  <a:srgbClr val="FFFFFF"/>
                </a:solidFill>
              </a:defRPr>
            </a:pPr>
            <a:r>
              <a:rPr sz="2025" b="1" i="0">
                <a:solidFill>
                  <a:srgbClr val="FFFFFF"/>
                </a:solidFill>
              </a:rPr>
              <a:t>https://itams.app/</a:t>
            </a:r>
          </a:p>
        </p:txBody>
      </p:sp>
      <p:sp>
        <p:nvSpPr>
          <p:cNvPr id="15" name="footer-number-7">
            <a:extLst>
              <a:ext uri="{FF2B5EF4-FFF2-40B4-BE49-F238E27FC236}">
                <a16:creationId xmlns:a16="http://schemas.microsoft.com/office/drawing/2014/main" id="{DE65B1AA-3F40-4357-A91F-3CE847DE81D4}"/>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FFFFFF"/>
                </a:solidFill>
              </a:defRPr>
            </a:pPr>
            <a:r>
              <a:rPr sz="1050" b="0" i="0">
                <a:solidFill>
                  <a:srgbClr val="FFFFFF"/>
                </a:solidFill>
              </a:rPr>
              <a:t>7</a:t>
            </a:r>
          </a:p>
        </p:txBody>
      </p:sp>
    </p:spTree>
    <p:extLst>
      <p:ext uri="{BB962C8B-B14F-4D97-AF65-F5344CB8AC3E}">
        <p14:creationId xmlns:p14="http://schemas.microsoft.com/office/powerpoint/2010/main" val="2126728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ection-8">
            <a:extLst>
              <a:ext uri="{FF2B5EF4-FFF2-40B4-BE49-F238E27FC236}">
                <a16:creationId xmlns:a16="http://schemas.microsoft.com/office/drawing/2014/main" id="{9FF45354-C1BA-4143-8FE9-5505CE179004}"/>
              </a:ext>
            </a:extLst>
          </p:cNvPr>
          <p:cNvSpPr>
            <a:spLocks noGrp="1"/>
          </p:cNvSpPr>
          <p:nvPr/>
        </p:nvSpPr>
        <p:spPr>
          <a:xfrm>
            <a:off x="400050" y="323850"/>
            <a:ext cx="2857500" cy="22860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DOCUMENTATION ALIGNMENT</a:t>
            </a:r>
          </a:p>
        </p:txBody>
      </p:sp>
      <p:sp>
        <p:nvSpPr>
          <p:cNvPr id="2" name="title-8">
            <a:extLst>
              <a:ext uri="{FF2B5EF4-FFF2-40B4-BE49-F238E27FC236}">
                <a16:creationId xmlns:a16="http://schemas.microsoft.com/office/drawing/2014/main" id="{0F2F9F25-ECE0-48BB-9769-298AFB925887}"/>
              </a:ext>
            </a:extLst>
          </p:cNvPr>
          <p:cNvSpPr>
            <a:spLocks noGrp="1"/>
          </p:cNvSpPr>
          <p:nvPr/>
        </p:nvSpPr>
        <p:spPr>
          <a:xfrm>
            <a:off x="400050" y="628650"/>
            <a:ext cx="10839450" cy="628650"/>
          </a:xfrm>
          <a:prstGeom prst="rect">
            <a:avLst/>
          </a:prstGeom>
          <a:noFill/>
          <a:ln w="0">
            <a:noFill/>
            <a:prstDash val="solid"/>
          </a:ln>
        </p:spPr>
        <p:txBody>
          <a:bodyPr anchor="t"/>
          <a:lstStyle/>
          <a:p>
            <a:pPr algn="l">
              <a:defRPr sz="3225" b="1" i="0">
                <a:solidFill>
                  <a:srgbClr val="0B132B"/>
                </a:solidFill>
              </a:defRPr>
            </a:pPr>
            <a:r>
              <a:rPr sz="3225" b="1" i="0">
                <a:solidFill>
                  <a:srgbClr val="0B132B"/>
                </a:solidFill>
              </a:rPr>
              <a:t>Requirements, design, code, and tests align</a:t>
            </a:r>
          </a:p>
        </p:txBody>
      </p:sp>
      <p:sp>
        <p:nvSpPr>
          <p:cNvPr id="3" name="rule-42-142">
            <a:extLst>
              <a:ext uri="{FF2B5EF4-FFF2-40B4-BE49-F238E27FC236}">
                <a16:creationId xmlns:a16="http://schemas.microsoft.com/office/drawing/2014/main" id="{7EDA0AC6-7146-480F-A30B-79DAFA459CE8}"/>
              </a:ext>
            </a:extLst>
          </p:cNvPr>
          <p:cNvSpPr>
            <a:spLocks noGrp="1"/>
          </p:cNvSpPr>
          <p:nvPr/>
        </p:nvSpPr>
        <p:spPr>
          <a:xfrm>
            <a:off x="400050" y="1352550"/>
            <a:ext cx="11391900" cy="19050"/>
          </a:xfrm>
          <a:prstGeom prst="rect">
            <a:avLst/>
          </a:prstGeom>
          <a:solidFill>
            <a:srgbClr val="0B132B"/>
          </a:solidFill>
          <a:ln w="0">
            <a:noFill/>
            <a:prstDash val="solid"/>
          </a:ln>
        </p:spPr>
        <p:txBody>
          <a:bodyPr/>
          <a:lstStyle/>
          <a:p>
            <a:endParaRPr lang="en-US"/>
          </a:p>
        </p:txBody>
      </p:sp>
      <p:sp>
        <p:nvSpPr>
          <p:cNvPr id="4" name="footer-label-8">
            <a:extLst>
              <a:ext uri="{FF2B5EF4-FFF2-40B4-BE49-F238E27FC236}">
                <a16:creationId xmlns:a16="http://schemas.microsoft.com/office/drawing/2014/main" id="{1BEF8149-5D76-4A74-B10E-BF566FA2E547}"/>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5" name="footer-number-8">
            <a:extLst>
              <a:ext uri="{FF2B5EF4-FFF2-40B4-BE49-F238E27FC236}">
                <a16:creationId xmlns:a16="http://schemas.microsoft.com/office/drawing/2014/main" id="{0EC94943-BE49-4A2C-9980-067995F6DCD9}"/>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8</a:t>
            </a:r>
          </a:p>
        </p:txBody>
      </p:sp>
      <p:sp>
        <p:nvSpPr>
          <p:cNvPr id="6" name="rule-115-330">
            <a:extLst>
              <a:ext uri="{FF2B5EF4-FFF2-40B4-BE49-F238E27FC236}">
                <a16:creationId xmlns:a16="http://schemas.microsoft.com/office/drawing/2014/main" id="{517AA1D5-AE99-4438-88C6-8112686E4562}"/>
              </a:ext>
            </a:extLst>
          </p:cNvPr>
          <p:cNvSpPr>
            <a:spLocks noGrp="1"/>
          </p:cNvSpPr>
          <p:nvPr/>
        </p:nvSpPr>
        <p:spPr>
          <a:xfrm>
            <a:off x="1095375" y="3143250"/>
            <a:ext cx="9620250" cy="19050"/>
          </a:xfrm>
          <a:prstGeom prst="rect">
            <a:avLst/>
          </a:prstGeom>
          <a:solidFill>
            <a:srgbClr val="0B132B"/>
          </a:solidFill>
          <a:ln w="0">
            <a:noFill/>
            <a:prstDash val="solid"/>
          </a:ln>
        </p:spPr>
        <p:txBody>
          <a:bodyPr/>
          <a:lstStyle/>
          <a:p>
            <a:endParaRPr lang="en-US"/>
          </a:p>
        </p:txBody>
      </p:sp>
      <p:sp>
        <p:nvSpPr>
          <p:cNvPr id="7" name="trace-dot-REQUIRE">
            <a:extLst>
              <a:ext uri="{FF2B5EF4-FFF2-40B4-BE49-F238E27FC236}">
                <a16:creationId xmlns:a16="http://schemas.microsoft.com/office/drawing/2014/main" id="{AD91110D-DA25-487B-B02B-96D4206E4B7F}"/>
              </a:ext>
            </a:extLst>
          </p:cNvPr>
          <p:cNvSpPr>
            <a:spLocks noGrp="1"/>
          </p:cNvSpPr>
          <p:nvPr/>
        </p:nvSpPr>
        <p:spPr>
          <a:xfrm>
            <a:off x="1095375" y="3028950"/>
            <a:ext cx="238125" cy="238125"/>
          </a:xfrm>
          <a:prstGeom prst="ellipse">
            <a:avLst/>
          </a:prstGeom>
          <a:solidFill>
            <a:srgbClr val="43E0C1"/>
          </a:solidFill>
          <a:ln w="0">
            <a:noFill/>
            <a:prstDash val="solid"/>
          </a:ln>
        </p:spPr>
        <p:txBody>
          <a:bodyPr/>
          <a:lstStyle/>
          <a:p>
            <a:endParaRPr lang="en-US"/>
          </a:p>
        </p:txBody>
      </p:sp>
      <p:sp>
        <p:nvSpPr>
          <p:cNvPr id="8" name="trace-label-REQUIRE">
            <a:extLst>
              <a:ext uri="{FF2B5EF4-FFF2-40B4-BE49-F238E27FC236}">
                <a16:creationId xmlns:a16="http://schemas.microsoft.com/office/drawing/2014/main" id="{16206A9F-AE04-40F5-B3DA-225BB5874DDE}"/>
              </a:ext>
            </a:extLst>
          </p:cNvPr>
          <p:cNvSpPr>
            <a:spLocks noGrp="1"/>
          </p:cNvSpPr>
          <p:nvPr/>
        </p:nvSpPr>
        <p:spPr>
          <a:xfrm>
            <a:off x="1000125" y="2209800"/>
            <a:ext cx="2095500" cy="2857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REQUIRE</a:t>
            </a:r>
          </a:p>
        </p:txBody>
      </p:sp>
      <p:sp>
        <p:nvSpPr>
          <p:cNvPr id="9" name="trace-detail-REQUIRE">
            <a:extLst>
              <a:ext uri="{FF2B5EF4-FFF2-40B4-BE49-F238E27FC236}">
                <a16:creationId xmlns:a16="http://schemas.microsoft.com/office/drawing/2014/main" id="{FFD197C1-66C5-4CA0-9B43-622B98F5FEAF}"/>
              </a:ext>
            </a:extLst>
          </p:cNvPr>
          <p:cNvSpPr>
            <a:spLocks noGrp="1"/>
          </p:cNvSpPr>
          <p:nvPr/>
        </p:nvSpPr>
        <p:spPr>
          <a:xfrm>
            <a:off x="1000125" y="3571875"/>
            <a:ext cx="2095500" cy="857250"/>
          </a:xfrm>
          <a:prstGeom prst="rect">
            <a:avLst/>
          </a:prstGeom>
          <a:noFill/>
          <a:ln w="0">
            <a:noFill/>
            <a:prstDash val="solid"/>
          </a:ln>
        </p:spPr>
        <p:txBody>
          <a:bodyPr anchor="t"/>
          <a:lstStyle/>
          <a:p>
            <a:pPr algn="l">
              <a:defRPr sz="1725" b="1" i="0">
                <a:solidFill>
                  <a:srgbClr val="0B132B"/>
                </a:solidFill>
              </a:defRPr>
            </a:pPr>
            <a:r>
              <a:rPr sz="1725" b="1" i="0">
                <a:solidFill>
                  <a:srgbClr val="0B132B"/>
                </a:solidFill>
              </a:rPr>
              <a:t>10 user stories</a:t>
            </a:r>
          </a:p>
          <a:p>
            <a:pPr algn="l"/>
            <a:r>
              <a:rPr sz="1725" b="1" i="0">
                <a:solidFill>
                  <a:srgbClr val="0B132B"/>
                </a:solidFill>
              </a:rPr>
              <a:t>8 NFRs</a:t>
            </a:r>
          </a:p>
        </p:txBody>
      </p:sp>
      <p:sp>
        <p:nvSpPr>
          <p:cNvPr id="10" name="trace-dot-DESIGN">
            <a:extLst>
              <a:ext uri="{FF2B5EF4-FFF2-40B4-BE49-F238E27FC236}">
                <a16:creationId xmlns:a16="http://schemas.microsoft.com/office/drawing/2014/main" id="{A65A93F7-038A-420F-ADF0-83E4BEF74FB6}"/>
              </a:ext>
            </a:extLst>
          </p:cNvPr>
          <p:cNvSpPr>
            <a:spLocks noGrp="1"/>
          </p:cNvSpPr>
          <p:nvPr/>
        </p:nvSpPr>
        <p:spPr>
          <a:xfrm>
            <a:off x="3590925" y="3028950"/>
            <a:ext cx="238125" cy="238125"/>
          </a:xfrm>
          <a:prstGeom prst="ellipse">
            <a:avLst/>
          </a:prstGeom>
          <a:solidFill>
            <a:srgbClr val="43E0C1"/>
          </a:solidFill>
          <a:ln w="0">
            <a:noFill/>
            <a:prstDash val="solid"/>
          </a:ln>
        </p:spPr>
        <p:txBody>
          <a:bodyPr/>
          <a:lstStyle/>
          <a:p>
            <a:endParaRPr lang="en-US"/>
          </a:p>
        </p:txBody>
      </p:sp>
      <p:sp>
        <p:nvSpPr>
          <p:cNvPr id="11" name="trace-label-DESIGN">
            <a:extLst>
              <a:ext uri="{FF2B5EF4-FFF2-40B4-BE49-F238E27FC236}">
                <a16:creationId xmlns:a16="http://schemas.microsoft.com/office/drawing/2014/main" id="{9223A4C0-2264-4B4C-913A-1C21EE116459}"/>
              </a:ext>
            </a:extLst>
          </p:cNvPr>
          <p:cNvSpPr>
            <a:spLocks noGrp="1"/>
          </p:cNvSpPr>
          <p:nvPr/>
        </p:nvSpPr>
        <p:spPr>
          <a:xfrm>
            <a:off x="3495675" y="2209800"/>
            <a:ext cx="2095500" cy="2857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DESIGN</a:t>
            </a:r>
          </a:p>
        </p:txBody>
      </p:sp>
      <p:sp>
        <p:nvSpPr>
          <p:cNvPr id="12" name="trace-detail-DESIGN">
            <a:extLst>
              <a:ext uri="{FF2B5EF4-FFF2-40B4-BE49-F238E27FC236}">
                <a16:creationId xmlns:a16="http://schemas.microsoft.com/office/drawing/2014/main" id="{EC05A781-BEE4-4ED5-AE10-16D8D3F9438D}"/>
              </a:ext>
            </a:extLst>
          </p:cNvPr>
          <p:cNvSpPr>
            <a:spLocks noGrp="1"/>
          </p:cNvSpPr>
          <p:nvPr/>
        </p:nvSpPr>
        <p:spPr>
          <a:xfrm>
            <a:off x="3495675" y="3571875"/>
            <a:ext cx="2095500" cy="857250"/>
          </a:xfrm>
          <a:prstGeom prst="rect">
            <a:avLst/>
          </a:prstGeom>
          <a:noFill/>
          <a:ln w="0">
            <a:noFill/>
            <a:prstDash val="solid"/>
          </a:ln>
        </p:spPr>
        <p:txBody>
          <a:bodyPr anchor="t"/>
          <a:lstStyle/>
          <a:p>
            <a:pPr algn="l">
              <a:defRPr sz="1725" b="1" i="0">
                <a:solidFill>
                  <a:srgbClr val="0B132B"/>
                </a:solidFill>
              </a:defRPr>
            </a:pPr>
            <a:r>
              <a:rPr sz="1725" b="1" i="0">
                <a:solidFill>
                  <a:srgbClr val="0B132B"/>
                </a:solidFill>
              </a:rPr>
              <a:t>Architecture</a:t>
            </a:r>
          </a:p>
          <a:p>
            <a:pPr algn="l"/>
            <a:r>
              <a:rPr sz="1725" b="1" i="0">
                <a:solidFill>
                  <a:srgbClr val="0B132B"/>
                </a:solidFill>
              </a:rPr>
              <a:t>and controls</a:t>
            </a:r>
          </a:p>
        </p:txBody>
      </p:sp>
      <p:sp>
        <p:nvSpPr>
          <p:cNvPr id="13" name="trace-dot-BUILD">
            <a:extLst>
              <a:ext uri="{FF2B5EF4-FFF2-40B4-BE49-F238E27FC236}">
                <a16:creationId xmlns:a16="http://schemas.microsoft.com/office/drawing/2014/main" id="{EC663360-8BFD-4F00-A891-AE2EFA764D84}"/>
              </a:ext>
            </a:extLst>
          </p:cNvPr>
          <p:cNvSpPr>
            <a:spLocks noGrp="1"/>
          </p:cNvSpPr>
          <p:nvPr/>
        </p:nvSpPr>
        <p:spPr>
          <a:xfrm>
            <a:off x="6086475" y="3028950"/>
            <a:ext cx="238125" cy="238125"/>
          </a:xfrm>
          <a:prstGeom prst="ellipse">
            <a:avLst/>
          </a:prstGeom>
          <a:solidFill>
            <a:srgbClr val="43E0C1"/>
          </a:solidFill>
          <a:ln w="0">
            <a:noFill/>
            <a:prstDash val="solid"/>
          </a:ln>
        </p:spPr>
        <p:txBody>
          <a:bodyPr/>
          <a:lstStyle/>
          <a:p>
            <a:endParaRPr lang="en-US"/>
          </a:p>
        </p:txBody>
      </p:sp>
      <p:sp>
        <p:nvSpPr>
          <p:cNvPr id="14" name="trace-label-BUILD">
            <a:extLst>
              <a:ext uri="{FF2B5EF4-FFF2-40B4-BE49-F238E27FC236}">
                <a16:creationId xmlns:a16="http://schemas.microsoft.com/office/drawing/2014/main" id="{DCB4DE05-5706-4362-B3D2-A2FA1BA54771}"/>
              </a:ext>
            </a:extLst>
          </p:cNvPr>
          <p:cNvSpPr>
            <a:spLocks noGrp="1"/>
          </p:cNvSpPr>
          <p:nvPr/>
        </p:nvSpPr>
        <p:spPr>
          <a:xfrm>
            <a:off x="5991225" y="2209800"/>
            <a:ext cx="2095500" cy="2857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BUILD</a:t>
            </a:r>
          </a:p>
        </p:txBody>
      </p:sp>
      <p:sp>
        <p:nvSpPr>
          <p:cNvPr id="15" name="trace-detail-BUILD">
            <a:extLst>
              <a:ext uri="{FF2B5EF4-FFF2-40B4-BE49-F238E27FC236}">
                <a16:creationId xmlns:a16="http://schemas.microsoft.com/office/drawing/2014/main" id="{1DB222AB-1C38-49A5-8F76-10CF51A8004B}"/>
              </a:ext>
            </a:extLst>
          </p:cNvPr>
          <p:cNvSpPr>
            <a:spLocks noGrp="1"/>
          </p:cNvSpPr>
          <p:nvPr/>
        </p:nvSpPr>
        <p:spPr>
          <a:xfrm>
            <a:off x="5991225" y="3571875"/>
            <a:ext cx="2095500" cy="857250"/>
          </a:xfrm>
          <a:prstGeom prst="rect">
            <a:avLst/>
          </a:prstGeom>
          <a:noFill/>
          <a:ln w="0">
            <a:noFill/>
            <a:prstDash val="solid"/>
          </a:ln>
        </p:spPr>
        <p:txBody>
          <a:bodyPr anchor="t"/>
          <a:lstStyle/>
          <a:p>
            <a:pPr algn="l">
              <a:defRPr sz="1725" b="1" i="0">
                <a:solidFill>
                  <a:srgbClr val="0B132B"/>
                </a:solidFill>
              </a:defRPr>
            </a:pPr>
            <a:r>
              <a:rPr sz="1725" b="1" i="0">
                <a:solidFill>
                  <a:srgbClr val="0B132B"/>
                </a:solidFill>
              </a:rPr>
              <a:t>Pages, endpoints,</a:t>
            </a:r>
          </a:p>
          <a:p>
            <a:pPr algn="l"/>
            <a:r>
              <a:rPr sz="1725" b="1" i="0">
                <a:solidFill>
                  <a:srgbClr val="0B132B"/>
                </a:solidFill>
              </a:rPr>
              <a:t>and services</a:t>
            </a:r>
          </a:p>
        </p:txBody>
      </p:sp>
      <p:sp>
        <p:nvSpPr>
          <p:cNvPr id="16" name="trace-dot-VERIFY">
            <a:extLst>
              <a:ext uri="{FF2B5EF4-FFF2-40B4-BE49-F238E27FC236}">
                <a16:creationId xmlns:a16="http://schemas.microsoft.com/office/drawing/2014/main" id="{0FA82C44-1580-4802-ADAC-3CF9A61CE5C8}"/>
              </a:ext>
            </a:extLst>
          </p:cNvPr>
          <p:cNvSpPr>
            <a:spLocks noGrp="1"/>
          </p:cNvSpPr>
          <p:nvPr/>
        </p:nvSpPr>
        <p:spPr>
          <a:xfrm>
            <a:off x="8582025" y="3028950"/>
            <a:ext cx="238125" cy="238125"/>
          </a:xfrm>
          <a:prstGeom prst="ellipse">
            <a:avLst/>
          </a:prstGeom>
          <a:solidFill>
            <a:srgbClr val="43E0C1"/>
          </a:solidFill>
          <a:ln w="0">
            <a:noFill/>
            <a:prstDash val="solid"/>
          </a:ln>
        </p:spPr>
        <p:txBody>
          <a:bodyPr/>
          <a:lstStyle/>
          <a:p>
            <a:endParaRPr lang="en-US"/>
          </a:p>
        </p:txBody>
      </p:sp>
      <p:sp>
        <p:nvSpPr>
          <p:cNvPr id="17" name="trace-label-VERIFY">
            <a:extLst>
              <a:ext uri="{FF2B5EF4-FFF2-40B4-BE49-F238E27FC236}">
                <a16:creationId xmlns:a16="http://schemas.microsoft.com/office/drawing/2014/main" id="{F5050D89-2C9D-4271-A0FD-069404B4AC02}"/>
              </a:ext>
            </a:extLst>
          </p:cNvPr>
          <p:cNvSpPr>
            <a:spLocks noGrp="1"/>
          </p:cNvSpPr>
          <p:nvPr/>
        </p:nvSpPr>
        <p:spPr>
          <a:xfrm>
            <a:off x="8486775" y="2209800"/>
            <a:ext cx="2095500" cy="285750"/>
          </a:xfrm>
          <a:prstGeom prst="rect">
            <a:avLst/>
          </a:prstGeom>
          <a:noFill/>
          <a:ln w="0">
            <a:noFill/>
            <a:prstDash val="solid"/>
          </a:ln>
        </p:spPr>
        <p:txBody>
          <a:bodyPr anchor="t"/>
          <a:lstStyle/>
          <a:p>
            <a:pPr algn="l">
              <a:defRPr sz="1350" b="1" i="0">
                <a:solidFill>
                  <a:srgbClr val="137D72"/>
                </a:solidFill>
              </a:defRPr>
            </a:pPr>
            <a:r>
              <a:rPr sz="1350" b="1" i="0">
                <a:solidFill>
                  <a:srgbClr val="137D72"/>
                </a:solidFill>
              </a:rPr>
              <a:t>VERIFY</a:t>
            </a:r>
          </a:p>
        </p:txBody>
      </p:sp>
      <p:sp>
        <p:nvSpPr>
          <p:cNvPr id="18" name="trace-detail-VERIFY">
            <a:extLst>
              <a:ext uri="{FF2B5EF4-FFF2-40B4-BE49-F238E27FC236}">
                <a16:creationId xmlns:a16="http://schemas.microsoft.com/office/drawing/2014/main" id="{B6F3CA5C-395C-42B6-935A-728552EDFC6A}"/>
              </a:ext>
            </a:extLst>
          </p:cNvPr>
          <p:cNvSpPr>
            <a:spLocks noGrp="1"/>
          </p:cNvSpPr>
          <p:nvPr/>
        </p:nvSpPr>
        <p:spPr>
          <a:xfrm>
            <a:off x="8486775" y="3571875"/>
            <a:ext cx="2095500" cy="857250"/>
          </a:xfrm>
          <a:prstGeom prst="rect">
            <a:avLst/>
          </a:prstGeom>
          <a:noFill/>
          <a:ln w="0">
            <a:noFill/>
            <a:prstDash val="solid"/>
          </a:ln>
        </p:spPr>
        <p:txBody>
          <a:bodyPr anchor="t"/>
          <a:lstStyle/>
          <a:p>
            <a:pPr algn="l">
              <a:defRPr sz="1725" b="1" i="0">
                <a:solidFill>
                  <a:srgbClr val="0B132B"/>
                </a:solidFill>
              </a:defRPr>
            </a:pPr>
            <a:r>
              <a:rPr sz="1725" b="1" i="0">
                <a:solidFill>
                  <a:srgbClr val="0B132B"/>
                </a:solidFill>
              </a:rPr>
              <a:t>Test cases and</a:t>
            </a:r>
          </a:p>
          <a:p>
            <a:pPr algn="l"/>
            <a:r>
              <a:rPr sz="1725" b="1" i="0">
                <a:solidFill>
                  <a:srgbClr val="0B132B"/>
                </a:solidFill>
              </a:rPr>
              <a:t>27 automated tests</a:t>
            </a:r>
          </a:p>
        </p:txBody>
      </p:sp>
      <p:sp>
        <p:nvSpPr>
          <p:cNvPr id="19" name="trace-example-label">
            <a:extLst>
              <a:ext uri="{FF2B5EF4-FFF2-40B4-BE49-F238E27FC236}">
                <a16:creationId xmlns:a16="http://schemas.microsoft.com/office/drawing/2014/main" id="{38C4B612-5414-4885-A80F-07FA53AA5893}"/>
              </a:ext>
            </a:extLst>
          </p:cNvPr>
          <p:cNvSpPr>
            <a:spLocks noGrp="1"/>
          </p:cNvSpPr>
          <p:nvPr/>
        </p:nvSpPr>
        <p:spPr>
          <a:xfrm>
            <a:off x="1095375" y="4972050"/>
            <a:ext cx="1238250" cy="28575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Example</a:t>
            </a:r>
          </a:p>
        </p:txBody>
      </p:sp>
      <p:sp>
        <p:nvSpPr>
          <p:cNvPr id="20" name="trace-example">
            <a:extLst>
              <a:ext uri="{FF2B5EF4-FFF2-40B4-BE49-F238E27FC236}">
                <a16:creationId xmlns:a16="http://schemas.microsoft.com/office/drawing/2014/main" id="{75DE8733-650F-4633-82FD-0E22AC68BD2F}"/>
              </a:ext>
            </a:extLst>
          </p:cNvPr>
          <p:cNvSpPr>
            <a:spLocks noGrp="1"/>
          </p:cNvSpPr>
          <p:nvPr/>
        </p:nvSpPr>
        <p:spPr>
          <a:xfrm>
            <a:off x="1095375" y="5314950"/>
            <a:ext cx="9620250" cy="552450"/>
          </a:xfrm>
          <a:prstGeom prst="rect">
            <a:avLst/>
          </a:prstGeom>
          <a:noFill/>
          <a:ln w="0">
            <a:noFill/>
            <a:prstDash val="solid"/>
          </a:ln>
        </p:spPr>
        <p:txBody>
          <a:bodyPr anchor="t"/>
          <a:lstStyle/>
          <a:p>
            <a:pPr algn="l">
              <a:defRPr sz="1575" b="1" i="0">
                <a:solidFill>
                  <a:srgbClr val="0B132B"/>
                </a:solidFill>
              </a:defRPr>
            </a:pPr>
            <a:r>
              <a:rPr sz="1575" b="1" i="0">
                <a:solidFill>
                  <a:srgbClr val="0B132B"/>
                </a:solidFill>
              </a:rPr>
              <a:t>US-003 Change password → authentication/session design → AuthEndpoints/AuthService → TC-003 + AuthenticationIntegrationTests</a:t>
            </a:r>
          </a:p>
        </p:txBody>
      </p:sp>
    </p:spTree>
    <p:extLst>
      <p:ext uri="{BB962C8B-B14F-4D97-AF65-F5344CB8AC3E}">
        <p14:creationId xmlns:p14="http://schemas.microsoft.com/office/powerpoint/2010/main" val="1339005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section-9">
            <a:extLst>
              <a:ext uri="{FF2B5EF4-FFF2-40B4-BE49-F238E27FC236}">
                <a16:creationId xmlns:a16="http://schemas.microsoft.com/office/drawing/2014/main" id="{6B62F87E-813C-4DFA-AD1C-53DA0DF143F1}"/>
              </a:ext>
            </a:extLst>
          </p:cNvPr>
          <p:cNvSpPr>
            <a:spLocks noGrp="1"/>
          </p:cNvSpPr>
          <p:nvPr/>
        </p:nvSpPr>
        <p:spPr>
          <a:xfrm>
            <a:off x="400050" y="323850"/>
            <a:ext cx="2857500" cy="22860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TESTING</a:t>
            </a:r>
          </a:p>
        </p:txBody>
      </p:sp>
      <p:sp>
        <p:nvSpPr>
          <p:cNvPr id="2" name="title-9">
            <a:extLst>
              <a:ext uri="{FF2B5EF4-FFF2-40B4-BE49-F238E27FC236}">
                <a16:creationId xmlns:a16="http://schemas.microsoft.com/office/drawing/2014/main" id="{26F174B2-560C-4036-A4D1-4E6317E9271E}"/>
              </a:ext>
            </a:extLst>
          </p:cNvPr>
          <p:cNvSpPr>
            <a:spLocks noGrp="1"/>
          </p:cNvSpPr>
          <p:nvPr/>
        </p:nvSpPr>
        <p:spPr>
          <a:xfrm>
            <a:off x="400050" y="628650"/>
            <a:ext cx="10839450" cy="628650"/>
          </a:xfrm>
          <a:prstGeom prst="rect">
            <a:avLst/>
          </a:prstGeom>
          <a:noFill/>
          <a:ln w="0">
            <a:noFill/>
            <a:prstDash val="solid"/>
          </a:ln>
        </p:spPr>
        <p:txBody>
          <a:bodyPr anchor="t"/>
          <a:lstStyle/>
          <a:p>
            <a:pPr algn="l">
              <a:defRPr sz="3225" b="1" i="0">
                <a:solidFill>
                  <a:srgbClr val="0B132B"/>
                </a:solidFill>
              </a:defRPr>
            </a:pPr>
            <a:r>
              <a:rPr sz="3225" b="1" i="0">
                <a:solidFill>
                  <a:srgbClr val="0B132B"/>
                </a:solidFill>
              </a:rPr>
              <a:t>Final validation results</a:t>
            </a:r>
          </a:p>
        </p:txBody>
      </p:sp>
      <p:sp>
        <p:nvSpPr>
          <p:cNvPr id="3" name="rule-42-142">
            <a:extLst>
              <a:ext uri="{FF2B5EF4-FFF2-40B4-BE49-F238E27FC236}">
                <a16:creationId xmlns:a16="http://schemas.microsoft.com/office/drawing/2014/main" id="{32957217-BD78-4689-BEF0-7B086749269D}"/>
              </a:ext>
            </a:extLst>
          </p:cNvPr>
          <p:cNvSpPr>
            <a:spLocks noGrp="1"/>
          </p:cNvSpPr>
          <p:nvPr/>
        </p:nvSpPr>
        <p:spPr>
          <a:xfrm>
            <a:off x="400050" y="1352550"/>
            <a:ext cx="11391900" cy="19050"/>
          </a:xfrm>
          <a:prstGeom prst="rect">
            <a:avLst/>
          </a:prstGeom>
          <a:solidFill>
            <a:srgbClr val="0B132B"/>
          </a:solidFill>
          <a:ln w="0">
            <a:noFill/>
            <a:prstDash val="solid"/>
          </a:ln>
        </p:spPr>
        <p:txBody>
          <a:bodyPr/>
          <a:lstStyle/>
          <a:p>
            <a:endParaRPr lang="en-US"/>
          </a:p>
        </p:txBody>
      </p:sp>
      <p:sp>
        <p:nvSpPr>
          <p:cNvPr id="4" name="footer-label-9">
            <a:extLst>
              <a:ext uri="{FF2B5EF4-FFF2-40B4-BE49-F238E27FC236}">
                <a16:creationId xmlns:a16="http://schemas.microsoft.com/office/drawing/2014/main" id="{8A15CD33-AD0D-4010-A55C-631A724B9ED9}"/>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5" name="footer-number-9">
            <a:extLst>
              <a:ext uri="{FF2B5EF4-FFF2-40B4-BE49-F238E27FC236}">
                <a16:creationId xmlns:a16="http://schemas.microsoft.com/office/drawing/2014/main" id="{3F5F21CA-862A-44AA-8C6C-4A1419F4B9FC}"/>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9</a:t>
            </a:r>
          </a:p>
        </p:txBody>
      </p:sp>
      <p:sp>
        <p:nvSpPr>
          <p:cNvPr id="6" name="metric-27/27">
            <a:extLst>
              <a:ext uri="{FF2B5EF4-FFF2-40B4-BE49-F238E27FC236}">
                <a16:creationId xmlns:a16="http://schemas.microsoft.com/office/drawing/2014/main" id="{08584A06-7ABB-462A-A434-F78BFFD0834A}"/>
              </a:ext>
            </a:extLst>
          </p:cNvPr>
          <p:cNvSpPr>
            <a:spLocks noGrp="1"/>
          </p:cNvSpPr>
          <p:nvPr/>
        </p:nvSpPr>
        <p:spPr>
          <a:xfrm>
            <a:off x="400050" y="2000250"/>
            <a:ext cx="2571750" cy="2800350"/>
          </a:xfrm>
          <a:prstGeom prst="rect">
            <a:avLst/>
          </a:prstGeom>
          <a:solidFill>
            <a:srgbClr val="F6F7F9"/>
          </a:solidFill>
          <a:ln w="9525">
            <a:solidFill>
              <a:srgbClr val="B8BCC4"/>
            </a:solidFill>
            <a:prstDash val="solid"/>
          </a:ln>
        </p:spPr>
        <p:txBody>
          <a:bodyPr/>
          <a:lstStyle/>
          <a:p>
            <a:endParaRPr lang="en-US"/>
          </a:p>
        </p:txBody>
      </p:sp>
      <p:sp>
        <p:nvSpPr>
          <p:cNvPr id="7" name="metric-accent-27/27">
            <a:extLst>
              <a:ext uri="{FF2B5EF4-FFF2-40B4-BE49-F238E27FC236}">
                <a16:creationId xmlns:a16="http://schemas.microsoft.com/office/drawing/2014/main" id="{DA8FF03E-9451-425A-929F-253D6C80FF1A}"/>
              </a:ext>
            </a:extLst>
          </p:cNvPr>
          <p:cNvSpPr>
            <a:spLocks noGrp="1"/>
          </p:cNvSpPr>
          <p:nvPr/>
        </p:nvSpPr>
        <p:spPr>
          <a:xfrm>
            <a:off x="400050" y="2000250"/>
            <a:ext cx="2571750" cy="95250"/>
          </a:xfrm>
          <a:prstGeom prst="rect">
            <a:avLst/>
          </a:prstGeom>
          <a:solidFill>
            <a:srgbClr val="43E0C1"/>
          </a:solidFill>
          <a:ln w="0">
            <a:noFill/>
            <a:prstDash val="solid"/>
          </a:ln>
        </p:spPr>
        <p:txBody>
          <a:bodyPr/>
          <a:lstStyle/>
          <a:p>
            <a:endParaRPr lang="en-US"/>
          </a:p>
        </p:txBody>
      </p:sp>
      <p:sp>
        <p:nvSpPr>
          <p:cNvPr id="8" name="metric-stat-27/27">
            <a:extLst>
              <a:ext uri="{FF2B5EF4-FFF2-40B4-BE49-F238E27FC236}">
                <a16:creationId xmlns:a16="http://schemas.microsoft.com/office/drawing/2014/main" id="{3C737D41-5D53-446D-BF02-6ED1989347B6}"/>
              </a:ext>
            </a:extLst>
          </p:cNvPr>
          <p:cNvSpPr>
            <a:spLocks noGrp="1"/>
          </p:cNvSpPr>
          <p:nvPr/>
        </p:nvSpPr>
        <p:spPr>
          <a:xfrm>
            <a:off x="647700" y="2343150"/>
            <a:ext cx="2076450" cy="857250"/>
          </a:xfrm>
          <a:prstGeom prst="rect">
            <a:avLst/>
          </a:prstGeom>
          <a:noFill/>
          <a:ln w="0">
            <a:noFill/>
            <a:prstDash val="solid"/>
          </a:ln>
        </p:spPr>
        <p:txBody>
          <a:bodyPr anchor="t"/>
          <a:lstStyle/>
          <a:p>
            <a:pPr algn="l">
              <a:defRPr sz="4125" b="1" i="0">
                <a:solidFill>
                  <a:srgbClr val="0B132B"/>
                </a:solidFill>
              </a:defRPr>
            </a:pPr>
            <a:r>
              <a:rPr sz="4125" b="1" i="0">
                <a:solidFill>
                  <a:srgbClr val="0B132B"/>
                </a:solidFill>
              </a:rPr>
              <a:t>27/27</a:t>
            </a:r>
          </a:p>
        </p:txBody>
      </p:sp>
      <p:sp>
        <p:nvSpPr>
          <p:cNvPr id="9" name="metric-label-27/27">
            <a:extLst>
              <a:ext uri="{FF2B5EF4-FFF2-40B4-BE49-F238E27FC236}">
                <a16:creationId xmlns:a16="http://schemas.microsoft.com/office/drawing/2014/main" id="{275137B1-B399-4087-8E41-5EC9CA3D3DAC}"/>
              </a:ext>
            </a:extLst>
          </p:cNvPr>
          <p:cNvSpPr>
            <a:spLocks noGrp="1"/>
          </p:cNvSpPr>
          <p:nvPr/>
        </p:nvSpPr>
        <p:spPr>
          <a:xfrm>
            <a:off x="647700" y="3257550"/>
            <a:ext cx="2076450" cy="457200"/>
          </a:xfrm>
          <a:prstGeom prst="rect">
            <a:avLst/>
          </a:prstGeom>
          <a:noFill/>
          <a:ln w="0">
            <a:noFill/>
            <a:prstDash val="solid"/>
          </a:ln>
        </p:spPr>
        <p:txBody>
          <a:bodyPr anchor="t"/>
          <a:lstStyle/>
          <a:p>
            <a:pPr algn="l">
              <a:defRPr sz="1650" b="1" i="0">
                <a:solidFill>
                  <a:srgbClr val="0B132B"/>
                </a:solidFill>
              </a:defRPr>
            </a:pPr>
            <a:r>
              <a:rPr sz="1650" b="1" i="0">
                <a:solidFill>
                  <a:srgbClr val="0B132B"/>
                </a:solidFill>
              </a:rPr>
              <a:t>Automated tests</a:t>
            </a:r>
          </a:p>
        </p:txBody>
      </p:sp>
      <p:sp>
        <p:nvSpPr>
          <p:cNvPr id="10" name="metric-detail-27/27">
            <a:extLst>
              <a:ext uri="{FF2B5EF4-FFF2-40B4-BE49-F238E27FC236}">
                <a16:creationId xmlns:a16="http://schemas.microsoft.com/office/drawing/2014/main" id="{4B8A5DF3-241A-4A0A-BB4A-90E456919EA0}"/>
              </a:ext>
            </a:extLst>
          </p:cNvPr>
          <p:cNvSpPr>
            <a:spLocks noGrp="1"/>
          </p:cNvSpPr>
          <p:nvPr/>
        </p:nvSpPr>
        <p:spPr>
          <a:xfrm>
            <a:off x="647700" y="3857625"/>
            <a:ext cx="2076450" cy="685800"/>
          </a:xfrm>
          <a:prstGeom prst="rect">
            <a:avLst/>
          </a:prstGeom>
          <a:noFill/>
          <a:ln w="0">
            <a:noFill/>
            <a:prstDash val="solid"/>
          </a:ln>
        </p:spPr>
        <p:txBody>
          <a:bodyPr anchor="t"/>
          <a:lstStyle/>
          <a:p>
            <a:pPr algn="l">
              <a:defRPr sz="1275" b="0" i="0">
                <a:solidFill>
                  <a:srgbClr val="596273"/>
                </a:solidFill>
              </a:defRPr>
            </a:pPr>
            <a:r>
              <a:rPr sz="1275" b="0" i="0">
                <a:solidFill>
                  <a:srgbClr val="596273"/>
                </a:solidFill>
              </a:rPr>
              <a:t>Zero failures in the final Release configuration run.</a:t>
            </a:r>
          </a:p>
        </p:txBody>
      </p:sp>
      <p:sp>
        <p:nvSpPr>
          <p:cNvPr id="11" name="metric-17/17">
            <a:extLst>
              <a:ext uri="{FF2B5EF4-FFF2-40B4-BE49-F238E27FC236}">
                <a16:creationId xmlns:a16="http://schemas.microsoft.com/office/drawing/2014/main" id="{FB51569D-5802-41F7-8B30-011DCF0EE31D}"/>
              </a:ext>
            </a:extLst>
          </p:cNvPr>
          <p:cNvSpPr>
            <a:spLocks noGrp="1"/>
          </p:cNvSpPr>
          <p:nvPr/>
        </p:nvSpPr>
        <p:spPr>
          <a:xfrm>
            <a:off x="3333750" y="2000250"/>
            <a:ext cx="2571750" cy="2800350"/>
          </a:xfrm>
          <a:prstGeom prst="rect">
            <a:avLst/>
          </a:prstGeom>
          <a:solidFill>
            <a:srgbClr val="F6F7F9"/>
          </a:solidFill>
          <a:ln w="9525">
            <a:solidFill>
              <a:srgbClr val="B8BCC4"/>
            </a:solidFill>
            <a:prstDash val="solid"/>
          </a:ln>
        </p:spPr>
        <p:txBody>
          <a:bodyPr/>
          <a:lstStyle/>
          <a:p>
            <a:endParaRPr lang="en-US"/>
          </a:p>
        </p:txBody>
      </p:sp>
      <p:sp>
        <p:nvSpPr>
          <p:cNvPr id="12" name="metric-accent-17/17">
            <a:extLst>
              <a:ext uri="{FF2B5EF4-FFF2-40B4-BE49-F238E27FC236}">
                <a16:creationId xmlns:a16="http://schemas.microsoft.com/office/drawing/2014/main" id="{7FD3D1C6-62B1-4C24-AA20-1D733EE78D01}"/>
              </a:ext>
            </a:extLst>
          </p:cNvPr>
          <p:cNvSpPr>
            <a:spLocks noGrp="1"/>
          </p:cNvSpPr>
          <p:nvPr/>
        </p:nvSpPr>
        <p:spPr>
          <a:xfrm>
            <a:off x="3333750" y="2000250"/>
            <a:ext cx="2571750" cy="95250"/>
          </a:xfrm>
          <a:prstGeom prst="rect">
            <a:avLst/>
          </a:prstGeom>
          <a:solidFill>
            <a:srgbClr val="43E0C1"/>
          </a:solidFill>
          <a:ln w="0">
            <a:noFill/>
            <a:prstDash val="solid"/>
          </a:ln>
        </p:spPr>
        <p:txBody>
          <a:bodyPr/>
          <a:lstStyle/>
          <a:p>
            <a:endParaRPr lang="en-US"/>
          </a:p>
        </p:txBody>
      </p:sp>
      <p:sp>
        <p:nvSpPr>
          <p:cNvPr id="13" name="metric-stat-17/17">
            <a:extLst>
              <a:ext uri="{FF2B5EF4-FFF2-40B4-BE49-F238E27FC236}">
                <a16:creationId xmlns:a16="http://schemas.microsoft.com/office/drawing/2014/main" id="{C9604106-110D-4034-A61A-254CE95E463E}"/>
              </a:ext>
            </a:extLst>
          </p:cNvPr>
          <p:cNvSpPr>
            <a:spLocks noGrp="1"/>
          </p:cNvSpPr>
          <p:nvPr/>
        </p:nvSpPr>
        <p:spPr>
          <a:xfrm>
            <a:off x="3581400" y="2343150"/>
            <a:ext cx="2076450" cy="857250"/>
          </a:xfrm>
          <a:prstGeom prst="rect">
            <a:avLst/>
          </a:prstGeom>
          <a:noFill/>
          <a:ln w="0">
            <a:noFill/>
            <a:prstDash val="solid"/>
          </a:ln>
        </p:spPr>
        <p:txBody>
          <a:bodyPr anchor="t"/>
          <a:lstStyle/>
          <a:p>
            <a:pPr algn="l">
              <a:defRPr sz="4125" b="1" i="0">
                <a:solidFill>
                  <a:srgbClr val="0B132B"/>
                </a:solidFill>
              </a:defRPr>
            </a:pPr>
            <a:r>
              <a:rPr sz="4125" b="1" i="0">
                <a:solidFill>
                  <a:srgbClr val="0B132B"/>
                </a:solidFill>
              </a:rPr>
              <a:t>17/17</a:t>
            </a:r>
          </a:p>
        </p:txBody>
      </p:sp>
      <p:sp>
        <p:nvSpPr>
          <p:cNvPr id="14" name="metric-label-17/17">
            <a:extLst>
              <a:ext uri="{FF2B5EF4-FFF2-40B4-BE49-F238E27FC236}">
                <a16:creationId xmlns:a16="http://schemas.microsoft.com/office/drawing/2014/main" id="{3566FF53-8403-4E84-972E-AD6E4CB6DE72}"/>
              </a:ext>
            </a:extLst>
          </p:cNvPr>
          <p:cNvSpPr>
            <a:spLocks noGrp="1"/>
          </p:cNvSpPr>
          <p:nvPr/>
        </p:nvSpPr>
        <p:spPr>
          <a:xfrm>
            <a:off x="3581400" y="3257550"/>
            <a:ext cx="2076450" cy="457200"/>
          </a:xfrm>
          <a:prstGeom prst="rect">
            <a:avLst/>
          </a:prstGeom>
          <a:noFill/>
          <a:ln w="0">
            <a:noFill/>
            <a:prstDash val="solid"/>
          </a:ln>
        </p:spPr>
        <p:txBody>
          <a:bodyPr anchor="t"/>
          <a:lstStyle/>
          <a:p>
            <a:pPr algn="l">
              <a:defRPr sz="1650" b="1" i="0">
                <a:solidFill>
                  <a:srgbClr val="0B132B"/>
                </a:solidFill>
              </a:defRPr>
            </a:pPr>
            <a:r>
              <a:rPr sz="1650" b="1" i="0">
                <a:solidFill>
                  <a:srgbClr val="0B132B"/>
                </a:solidFill>
              </a:rPr>
              <a:t>Documented cases</a:t>
            </a:r>
          </a:p>
        </p:txBody>
      </p:sp>
      <p:sp>
        <p:nvSpPr>
          <p:cNvPr id="15" name="metric-detail-17/17">
            <a:extLst>
              <a:ext uri="{FF2B5EF4-FFF2-40B4-BE49-F238E27FC236}">
                <a16:creationId xmlns:a16="http://schemas.microsoft.com/office/drawing/2014/main" id="{7CDFDE88-A0DC-4A2F-996A-7FD5FE5CF00B}"/>
              </a:ext>
            </a:extLst>
          </p:cNvPr>
          <p:cNvSpPr>
            <a:spLocks noGrp="1"/>
          </p:cNvSpPr>
          <p:nvPr/>
        </p:nvSpPr>
        <p:spPr>
          <a:xfrm>
            <a:off x="3581400" y="3857625"/>
            <a:ext cx="2076450" cy="685800"/>
          </a:xfrm>
          <a:prstGeom prst="rect">
            <a:avLst/>
          </a:prstGeom>
          <a:noFill/>
          <a:ln w="0">
            <a:noFill/>
            <a:prstDash val="solid"/>
          </a:ln>
        </p:spPr>
        <p:txBody>
          <a:bodyPr anchor="t"/>
          <a:lstStyle/>
          <a:p>
            <a:pPr algn="l">
              <a:defRPr sz="1275" b="0" i="0">
                <a:solidFill>
                  <a:srgbClr val="596273"/>
                </a:solidFill>
              </a:defRPr>
            </a:pPr>
            <a:r>
              <a:rPr sz="1275" b="0" i="0">
                <a:solidFill>
                  <a:srgbClr val="596273"/>
                </a:solidFill>
              </a:rPr>
              <a:t>Manual, automated, deployment, rollback, and handoff cases all marked Pass.</a:t>
            </a:r>
          </a:p>
        </p:txBody>
      </p:sp>
      <p:sp>
        <p:nvSpPr>
          <p:cNvPr id="16" name="metric-4/4">
            <a:extLst>
              <a:ext uri="{FF2B5EF4-FFF2-40B4-BE49-F238E27FC236}">
                <a16:creationId xmlns:a16="http://schemas.microsoft.com/office/drawing/2014/main" id="{C9047D9C-E4A4-42B8-993F-5A2E28D636AD}"/>
              </a:ext>
            </a:extLst>
          </p:cNvPr>
          <p:cNvSpPr>
            <a:spLocks noGrp="1"/>
          </p:cNvSpPr>
          <p:nvPr/>
        </p:nvSpPr>
        <p:spPr>
          <a:xfrm>
            <a:off x="6267450" y="2000250"/>
            <a:ext cx="2571750" cy="2800350"/>
          </a:xfrm>
          <a:prstGeom prst="rect">
            <a:avLst/>
          </a:prstGeom>
          <a:solidFill>
            <a:srgbClr val="F6F7F9"/>
          </a:solidFill>
          <a:ln w="9525">
            <a:solidFill>
              <a:srgbClr val="B8BCC4"/>
            </a:solidFill>
            <a:prstDash val="solid"/>
          </a:ln>
        </p:spPr>
        <p:txBody>
          <a:bodyPr/>
          <a:lstStyle/>
          <a:p>
            <a:endParaRPr lang="en-US"/>
          </a:p>
        </p:txBody>
      </p:sp>
      <p:sp>
        <p:nvSpPr>
          <p:cNvPr id="17" name="metric-accent-4/4">
            <a:extLst>
              <a:ext uri="{FF2B5EF4-FFF2-40B4-BE49-F238E27FC236}">
                <a16:creationId xmlns:a16="http://schemas.microsoft.com/office/drawing/2014/main" id="{54A80351-C966-45EC-931E-04A8ECCD4B17}"/>
              </a:ext>
            </a:extLst>
          </p:cNvPr>
          <p:cNvSpPr>
            <a:spLocks noGrp="1"/>
          </p:cNvSpPr>
          <p:nvPr/>
        </p:nvSpPr>
        <p:spPr>
          <a:xfrm>
            <a:off x="6267450" y="2000250"/>
            <a:ext cx="2571750" cy="95250"/>
          </a:xfrm>
          <a:prstGeom prst="rect">
            <a:avLst/>
          </a:prstGeom>
          <a:solidFill>
            <a:srgbClr val="43E0C1"/>
          </a:solidFill>
          <a:ln w="0">
            <a:noFill/>
            <a:prstDash val="solid"/>
          </a:ln>
        </p:spPr>
        <p:txBody>
          <a:bodyPr/>
          <a:lstStyle/>
          <a:p>
            <a:endParaRPr lang="en-US"/>
          </a:p>
        </p:txBody>
      </p:sp>
      <p:sp>
        <p:nvSpPr>
          <p:cNvPr id="18" name="metric-stat-4/4">
            <a:extLst>
              <a:ext uri="{FF2B5EF4-FFF2-40B4-BE49-F238E27FC236}">
                <a16:creationId xmlns:a16="http://schemas.microsoft.com/office/drawing/2014/main" id="{10C719DC-E620-409B-B5FC-96941A285ED4}"/>
              </a:ext>
            </a:extLst>
          </p:cNvPr>
          <p:cNvSpPr>
            <a:spLocks noGrp="1"/>
          </p:cNvSpPr>
          <p:nvPr/>
        </p:nvSpPr>
        <p:spPr>
          <a:xfrm>
            <a:off x="6515100" y="2343150"/>
            <a:ext cx="2076450" cy="857250"/>
          </a:xfrm>
          <a:prstGeom prst="rect">
            <a:avLst/>
          </a:prstGeom>
          <a:noFill/>
          <a:ln w="0">
            <a:noFill/>
            <a:prstDash val="solid"/>
          </a:ln>
        </p:spPr>
        <p:txBody>
          <a:bodyPr anchor="t"/>
          <a:lstStyle/>
          <a:p>
            <a:pPr algn="l">
              <a:defRPr sz="4125" b="1" i="0">
                <a:solidFill>
                  <a:srgbClr val="0B132B"/>
                </a:solidFill>
              </a:defRPr>
            </a:pPr>
            <a:r>
              <a:rPr sz="4125" b="1" i="0">
                <a:solidFill>
                  <a:srgbClr val="0B132B"/>
                </a:solidFill>
              </a:rPr>
              <a:t>4/4</a:t>
            </a:r>
          </a:p>
        </p:txBody>
      </p:sp>
      <p:sp>
        <p:nvSpPr>
          <p:cNvPr id="19" name="metric-label-4/4">
            <a:extLst>
              <a:ext uri="{FF2B5EF4-FFF2-40B4-BE49-F238E27FC236}">
                <a16:creationId xmlns:a16="http://schemas.microsoft.com/office/drawing/2014/main" id="{5B86193B-5EF5-4FAC-9228-FC95C1D23281}"/>
              </a:ext>
            </a:extLst>
          </p:cNvPr>
          <p:cNvSpPr>
            <a:spLocks noGrp="1"/>
          </p:cNvSpPr>
          <p:nvPr/>
        </p:nvSpPr>
        <p:spPr>
          <a:xfrm>
            <a:off x="6515100" y="3257550"/>
            <a:ext cx="2076450" cy="457200"/>
          </a:xfrm>
          <a:prstGeom prst="rect">
            <a:avLst/>
          </a:prstGeom>
          <a:noFill/>
          <a:ln w="0">
            <a:noFill/>
            <a:prstDash val="solid"/>
          </a:ln>
        </p:spPr>
        <p:txBody>
          <a:bodyPr anchor="t"/>
          <a:lstStyle/>
          <a:p>
            <a:pPr algn="l">
              <a:defRPr sz="1650" b="1" i="0">
                <a:solidFill>
                  <a:srgbClr val="0B132B"/>
                </a:solidFill>
              </a:defRPr>
            </a:pPr>
            <a:r>
              <a:rPr sz="1650" b="1" i="0">
                <a:solidFill>
                  <a:srgbClr val="0B132B"/>
                </a:solidFill>
              </a:rPr>
              <a:t>Smoke checks</a:t>
            </a:r>
          </a:p>
        </p:txBody>
      </p:sp>
      <p:sp>
        <p:nvSpPr>
          <p:cNvPr id="20" name="metric-detail-4/4">
            <a:extLst>
              <a:ext uri="{FF2B5EF4-FFF2-40B4-BE49-F238E27FC236}">
                <a16:creationId xmlns:a16="http://schemas.microsoft.com/office/drawing/2014/main" id="{D2B629AC-9EFB-42AF-889B-A4BEC83CF7D8}"/>
              </a:ext>
            </a:extLst>
          </p:cNvPr>
          <p:cNvSpPr>
            <a:spLocks noGrp="1"/>
          </p:cNvSpPr>
          <p:nvPr/>
        </p:nvSpPr>
        <p:spPr>
          <a:xfrm>
            <a:off x="6515100" y="3857625"/>
            <a:ext cx="2076450" cy="685800"/>
          </a:xfrm>
          <a:prstGeom prst="rect">
            <a:avLst/>
          </a:prstGeom>
          <a:noFill/>
          <a:ln w="0">
            <a:noFill/>
            <a:prstDash val="solid"/>
          </a:ln>
        </p:spPr>
        <p:txBody>
          <a:bodyPr anchor="t"/>
          <a:lstStyle/>
          <a:p>
            <a:pPr algn="l">
              <a:defRPr sz="1275" b="0" i="0">
                <a:solidFill>
                  <a:srgbClr val="596273"/>
                </a:solidFill>
              </a:defRPr>
            </a:pPr>
            <a:r>
              <a:rPr sz="1275" b="0" i="0">
                <a:solidFill>
                  <a:srgbClr val="596273"/>
                </a:solidFill>
              </a:rPr>
              <a:t>Site response, API authorization, API base URL, and canonical redirect verified.</a:t>
            </a:r>
          </a:p>
        </p:txBody>
      </p:sp>
      <p:sp>
        <p:nvSpPr>
          <p:cNvPr id="21" name="metric-7">
            <a:extLst>
              <a:ext uri="{FF2B5EF4-FFF2-40B4-BE49-F238E27FC236}">
                <a16:creationId xmlns:a16="http://schemas.microsoft.com/office/drawing/2014/main" id="{98825E6D-F4AE-4A3C-B8CD-9E2B50B5C8FE}"/>
              </a:ext>
            </a:extLst>
          </p:cNvPr>
          <p:cNvSpPr>
            <a:spLocks noGrp="1"/>
          </p:cNvSpPr>
          <p:nvPr/>
        </p:nvSpPr>
        <p:spPr>
          <a:xfrm>
            <a:off x="9201150" y="2000250"/>
            <a:ext cx="2571750" cy="2800350"/>
          </a:xfrm>
          <a:prstGeom prst="rect">
            <a:avLst/>
          </a:prstGeom>
          <a:solidFill>
            <a:srgbClr val="F6F7F9"/>
          </a:solidFill>
          <a:ln w="9525">
            <a:solidFill>
              <a:srgbClr val="B8BCC4"/>
            </a:solidFill>
            <a:prstDash val="solid"/>
          </a:ln>
        </p:spPr>
        <p:txBody>
          <a:bodyPr/>
          <a:lstStyle/>
          <a:p>
            <a:endParaRPr lang="en-US"/>
          </a:p>
        </p:txBody>
      </p:sp>
      <p:sp>
        <p:nvSpPr>
          <p:cNvPr id="22" name="metric-accent-7">
            <a:extLst>
              <a:ext uri="{FF2B5EF4-FFF2-40B4-BE49-F238E27FC236}">
                <a16:creationId xmlns:a16="http://schemas.microsoft.com/office/drawing/2014/main" id="{0881E55C-C826-4972-99B2-9218876EA92A}"/>
              </a:ext>
            </a:extLst>
          </p:cNvPr>
          <p:cNvSpPr>
            <a:spLocks noGrp="1"/>
          </p:cNvSpPr>
          <p:nvPr/>
        </p:nvSpPr>
        <p:spPr>
          <a:xfrm>
            <a:off x="9201150" y="2000250"/>
            <a:ext cx="2571750" cy="95250"/>
          </a:xfrm>
          <a:prstGeom prst="rect">
            <a:avLst/>
          </a:prstGeom>
          <a:solidFill>
            <a:srgbClr val="43E0C1"/>
          </a:solidFill>
          <a:ln w="0">
            <a:noFill/>
            <a:prstDash val="solid"/>
          </a:ln>
        </p:spPr>
        <p:txBody>
          <a:bodyPr/>
          <a:lstStyle/>
          <a:p>
            <a:endParaRPr lang="en-US"/>
          </a:p>
        </p:txBody>
      </p:sp>
      <p:sp>
        <p:nvSpPr>
          <p:cNvPr id="23" name="metric-stat-7">
            <a:extLst>
              <a:ext uri="{FF2B5EF4-FFF2-40B4-BE49-F238E27FC236}">
                <a16:creationId xmlns:a16="http://schemas.microsoft.com/office/drawing/2014/main" id="{F3AD300A-D4DA-4738-AA80-BA28DEABE1DE}"/>
              </a:ext>
            </a:extLst>
          </p:cNvPr>
          <p:cNvSpPr>
            <a:spLocks noGrp="1"/>
          </p:cNvSpPr>
          <p:nvPr/>
        </p:nvSpPr>
        <p:spPr>
          <a:xfrm>
            <a:off x="9448800" y="2343150"/>
            <a:ext cx="2076450" cy="857250"/>
          </a:xfrm>
          <a:prstGeom prst="rect">
            <a:avLst/>
          </a:prstGeom>
          <a:noFill/>
          <a:ln w="0">
            <a:noFill/>
            <a:prstDash val="solid"/>
          </a:ln>
        </p:spPr>
        <p:txBody>
          <a:bodyPr anchor="t"/>
          <a:lstStyle/>
          <a:p>
            <a:pPr algn="l">
              <a:defRPr sz="4125" b="1" i="0">
                <a:solidFill>
                  <a:srgbClr val="0B132B"/>
                </a:solidFill>
              </a:defRPr>
            </a:pPr>
            <a:r>
              <a:rPr sz="4125" b="1" i="0">
                <a:solidFill>
                  <a:srgbClr val="0B132B"/>
                </a:solidFill>
              </a:rPr>
              <a:t>7</a:t>
            </a:r>
          </a:p>
        </p:txBody>
      </p:sp>
      <p:sp>
        <p:nvSpPr>
          <p:cNvPr id="24" name="metric-label-7">
            <a:extLst>
              <a:ext uri="{FF2B5EF4-FFF2-40B4-BE49-F238E27FC236}">
                <a16:creationId xmlns:a16="http://schemas.microsoft.com/office/drawing/2014/main" id="{0C52AA84-05A2-4D6B-B511-2C61E46C42E1}"/>
              </a:ext>
            </a:extLst>
          </p:cNvPr>
          <p:cNvSpPr>
            <a:spLocks noGrp="1"/>
          </p:cNvSpPr>
          <p:nvPr/>
        </p:nvSpPr>
        <p:spPr>
          <a:xfrm>
            <a:off x="9448800" y="3257550"/>
            <a:ext cx="2076450" cy="457200"/>
          </a:xfrm>
          <a:prstGeom prst="rect">
            <a:avLst/>
          </a:prstGeom>
          <a:noFill/>
          <a:ln w="0">
            <a:noFill/>
            <a:prstDash val="solid"/>
          </a:ln>
        </p:spPr>
        <p:txBody>
          <a:bodyPr anchor="t"/>
          <a:lstStyle/>
          <a:p>
            <a:pPr algn="l">
              <a:defRPr sz="1650" b="1" i="0">
                <a:solidFill>
                  <a:srgbClr val="0B132B"/>
                </a:solidFill>
              </a:defRPr>
            </a:pPr>
            <a:r>
              <a:rPr sz="1650" b="1" i="0">
                <a:solidFill>
                  <a:srgbClr val="0B132B"/>
                </a:solidFill>
              </a:rPr>
              <a:t>Test classes</a:t>
            </a:r>
          </a:p>
        </p:txBody>
      </p:sp>
      <p:sp>
        <p:nvSpPr>
          <p:cNvPr id="25" name="metric-detail-7">
            <a:extLst>
              <a:ext uri="{FF2B5EF4-FFF2-40B4-BE49-F238E27FC236}">
                <a16:creationId xmlns:a16="http://schemas.microsoft.com/office/drawing/2014/main" id="{134C8E93-583C-4F70-8986-6454C340A600}"/>
              </a:ext>
            </a:extLst>
          </p:cNvPr>
          <p:cNvSpPr>
            <a:spLocks noGrp="1"/>
          </p:cNvSpPr>
          <p:nvPr/>
        </p:nvSpPr>
        <p:spPr>
          <a:xfrm>
            <a:off x="9448800" y="3857625"/>
            <a:ext cx="2076450" cy="685800"/>
          </a:xfrm>
          <a:prstGeom prst="rect">
            <a:avLst/>
          </a:prstGeom>
          <a:noFill/>
          <a:ln w="0">
            <a:noFill/>
            <a:prstDash val="solid"/>
          </a:ln>
        </p:spPr>
        <p:txBody>
          <a:bodyPr anchor="t"/>
          <a:lstStyle/>
          <a:p>
            <a:pPr algn="l">
              <a:defRPr sz="1275" b="0" i="0">
                <a:solidFill>
                  <a:srgbClr val="596273"/>
                </a:solidFill>
              </a:defRPr>
            </a:pPr>
            <a:r>
              <a:rPr sz="1275" b="0" i="0">
                <a:solidFill>
                  <a:srgbClr val="596273"/>
                </a:solidFill>
              </a:rPr>
              <a:t>Authentication, authorization/history, reports, CORS, bootstrap, context, and hardening.</a:t>
            </a:r>
          </a:p>
        </p:txBody>
      </p:sp>
      <p:sp>
        <p:nvSpPr>
          <p:cNvPr id="26" name="test-summary-band">
            <a:extLst>
              <a:ext uri="{FF2B5EF4-FFF2-40B4-BE49-F238E27FC236}">
                <a16:creationId xmlns:a16="http://schemas.microsoft.com/office/drawing/2014/main" id="{746B25BA-2CC4-462C-83E0-9E53443DFD37}"/>
              </a:ext>
            </a:extLst>
          </p:cNvPr>
          <p:cNvSpPr>
            <a:spLocks noGrp="1"/>
          </p:cNvSpPr>
          <p:nvPr/>
        </p:nvSpPr>
        <p:spPr>
          <a:xfrm>
            <a:off x="0" y="5381625"/>
            <a:ext cx="12192000" cy="1000125"/>
          </a:xfrm>
          <a:prstGeom prst="rect">
            <a:avLst/>
          </a:prstGeom>
          <a:solidFill>
            <a:srgbClr val="1C2541"/>
          </a:solidFill>
          <a:ln w="0">
            <a:noFill/>
            <a:prstDash val="solid"/>
          </a:ln>
        </p:spPr>
        <p:txBody>
          <a:bodyPr/>
          <a:lstStyle/>
          <a:p>
            <a:endParaRPr lang="en-US"/>
          </a:p>
        </p:txBody>
      </p:sp>
      <p:sp>
        <p:nvSpPr>
          <p:cNvPr id="27" name="test-summary-text">
            <a:extLst>
              <a:ext uri="{FF2B5EF4-FFF2-40B4-BE49-F238E27FC236}">
                <a16:creationId xmlns:a16="http://schemas.microsoft.com/office/drawing/2014/main" id="{6D0BC394-610E-4A5B-BC50-E6C74FA2AF07}"/>
              </a:ext>
            </a:extLst>
          </p:cNvPr>
          <p:cNvSpPr>
            <a:spLocks noGrp="1"/>
          </p:cNvSpPr>
          <p:nvPr/>
        </p:nvSpPr>
        <p:spPr>
          <a:xfrm>
            <a:off x="857250" y="5676900"/>
            <a:ext cx="10477500" cy="333375"/>
          </a:xfrm>
          <a:prstGeom prst="rect">
            <a:avLst/>
          </a:prstGeom>
          <a:noFill/>
          <a:ln w="0">
            <a:noFill/>
            <a:prstDash val="solid"/>
          </a:ln>
        </p:spPr>
        <p:txBody>
          <a:bodyPr anchor="t"/>
          <a:lstStyle/>
          <a:p>
            <a:pPr algn="ctr">
              <a:defRPr sz="1800" b="1" i="0">
                <a:solidFill>
                  <a:srgbClr val="FFFFFF"/>
                </a:solidFill>
              </a:defRPr>
            </a:pPr>
            <a:r>
              <a:rPr sz="1800" b="1" i="0">
                <a:solidFill>
                  <a:srgbClr val="FFFFFF"/>
                </a:solidFill>
              </a:rPr>
              <a:t>Final test date: June 25, 2026  •  Production URL: https://itams.app/</a:t>
            </a:r>
          </a:p>
        </p:txBody>
      </p:sp>
    </p:spTree>
    <p:extLst>
      <p:ext uri="{BB962C8B-B14F-4D97-AF65-F5344CB8AC3E}">
        <p14:creationId xmlns:p14="http://schemas.microsoft.com/office/powerpoint/2010/main" val="731787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ction-10">
            <a:extLst>
              <a:ext uri="{FF2B5EF4-FFF2-40B4-BE49-F238E27FC236}">
                <a16:creationId xmlns:a16="http://schemas.microsoft.com/office/drawing/2014/main" id="{547CB5D6-3A72-485C-BEB0-1422587DB5BF}"/>
              </a:ext>
            </a:extLst>
          </p:cNvPr>
          <p:cNvSpPr>
            <a:spLocks noGrp="1"/>
          </p:cNvSpPr>
          <p:nvPr/>
        </p:nvSpPr>
        <p:spPr>
          <a:xfrm>
            <a:off x="400050" y="323850"/>
            <a:ext cx="2857500" cy="22860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OPERATIONS</a:t>
            </a:r>
          </a:p>
        </p:txBody>
      </p:sp>
      <p:sp>
        <p:nvSpPr>
          <p:cNvPr id="2" name="title-10">
            <a:extLst>
              <a:ext uri="{FF2B5EF4-FFF2-40B4-BE49-F238E27FC236}">
                <a16:creationId xmlns:a16="http://schemas.microsoft.com/office/drawing/2014/main" id="{90BD195C-EBAC-454C-8BDA-1B57B5C9D1A7}"/>
              </a:ext>
            </a:extLst>
          </p:cNvPr>
          <p:cNvSpPr>
            <a:spLocks noGrp="1"/>
          </p:cNvSpPr>
          <p:nvPr/>
        </p:nvSpPr>
        <p:spPr>
          <a:xfrm>
            <a:off x="400050" y="628650"/>
            <a:ext cx="10839450" cy="628650"/>
          </a:xfrm>
          <a:prstGeom prst="rect">
            <a:avLst/>
          </a:prstGeom>
          <a:noFill/>
          <a:ln w="0">
            <a:noFill/>
            <a:prstDash val="solid"/>
          </a:ln>
        </p:spPr>
        <p:txBody>
          <a:bodyPr anchor="t"/>
          <a:lstStyle/>
          <a:p>
            <a:pPr algn="l">
              <a:defRPr sz="3225" b="1" i="0">
                <a:solidFill>
                  <a:srgbClr val="0B132B"/>
                </a:solidFill>
              </a:defRPr>
            </a:pPr>
            <a:r>
              <a:rPr sz="3225" b="1" i="0">
                <a:solidFill>
                  <a:srgbClr val="0B132B"/>
                </a:solidFill>
              </a:rPr>
              <a:t>Repeatable and reversible production deployment</a:t>
            </a:r>
          </a:p>
        </p:txBody>
      </p:sp>
      <p:sp>
        <p:nvSpPr>
          <p:cNvPr id="3" name="rule-42-142">
            <a:extLst>
              <a:ext uri="{FF2B5EF4-FFF2-40B4-BE49-F238E27FC236}">
                <a16:creationId xmlns:a16="http://schemas.microsoft.com/office/drawing/2014/main" id="{4F651B77-74C3-461D-94BF-093ACC680848}"/>
              </a:ext>
            </a:extLst>
          </p:cNvPr>
          <p:cNvSpPr>
            <a:spLocks noGrp="1"/>
          </p:cNvSpPr>
          <p:nvPr/>
        </p:nvSpPr>
        <p:spPr>
          <a:xfrm>
            <a:off x="400050" y="1352550"/>
            <a:ext cx="11391900" cy="19050"/>
          </a:xfrm>
          <a:prstGeom prst="rect">
            <a:avLst/>
          </a:prstGeom>
          <a:solidFill>
            <a:srgbClr val="0B132B"/>
          </a:solidFill>
          <a:ln w="0">
            <a:noFill/>
            <a:prstDash val="solid"/>
          </a:ln>
        </p:spPr>
        <p:txBody>
          <a:bodyPr/>
          <a:lstStyle/>
          <a:p>
            <a:endParaRPr lang="en-US"/>
          </a:p>
        </p:txBody>
      </p:sp>
      <p:sp>
        <p:nvSpPr>
          <p:cNvPr id="4" name="footer-label-10">
            <a:extLst>
              <a:ext uri="{FF2B5EF4-FFF2-40B4-BE49-F238E27FC236}">
                <a16:creationId xmlns:a16="http://schemas.microsoft.com/office/drawing/2014/main" id="{A7374F02-288A-449B-ABBF-E22D973ECFBB}"/>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5" name="footer-number-10">
            <a:extLst>
              <a:ext uri="{FF2B5EF4-FFF2-40B4-BE49-F238E27FC236}">
                <a16:creationId xmlns:a16="http://schemas.microsoft.com/office/drawing/2014/main" id="{EEE807DB-775F-4C17-B71B-06569AB11B5C}"/>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10</a:t>
            </a:r>
          </a:p>
        </p:txBody>
      </p:sp>
      <p:sp>
        <p:nvSpPr>
          <p:cNvPr id="6" name="rule-80-293">
            <a:extLst>
              <a:ext uri="{FF2B5EF4-FFF2-40B4-BE49-F238E27FC236}">
                <a16:creationId xmlns:a16="http://schemas.microsoft.com/office/drawing/2014/main" id="{27909765-1E7B-429D-9D22-4D66BB52C290}"/>
              </a:ext>
            </a:extLst>
          </p:cNvPr>
          <p:cNvSpPr>
            <a:spLocks noGrp="1"/>
          </p:cNvSpPr>
          <p:nvPr/>
        </p:nvSpPr>
        <p:spPr>
          <a:xfrm>
            <a:off x="762000" y="2790825"/>
            <a:ext cx="10287000" cy="19050"/>
          </a:xfrm>
          <a:prstGeom prst="rect">
            <a:avLst/>
          </a:prstGeom>
          <a:solidFill>
            <a:srgbClr val="0B132B"/>
          </a:solidFill>
          <a:ln w="0">
            <a:noFill/>
            <a:prstDash val="solid"/>
          </a:ln>
        </p:spPr>
        <p:txBody>
          <a:bodyPr/>
          <a:lstStyle/>
          <a:p>
            <a:endParaRPr lang="en-US"/>
          </a:p>
        </p:txBody>
      </p:sp>
      <p:sp>
        <p:nvSpPr>
          <p:cNvPr id="7" name="deploy-num-01">
            <a:extLst>
              <a:ext uri="{FF2B5EF4-FFF2-40B4-BE49-F238E27FC236}">
                <a16:creationId xmlns:a16="http://schemas.microsoft.com/office/drawing/2014/main" id="{6424D113-DA98-4666-A180-051F4C7A4326}"/>
              </a:ext>
            </a:extLst>
          </p:cNvPr>
          <p:cNvSpPr>
            <a:spLocks noGrp="1"/>
          </p:cNvSpPr>
          <p:nvPr/>
        </p:nvSpPr>
        <p:spPr>
          <a:xfrm>
            <a:off x="762000" y="2095500"/>
            <a:ext cx="571500" cy="285750"/>
          </a:xfrm>
          <a:prstGeom prst="rect">
            <a:avLst/>
          </a:prstGeom>
          <a:noFill/>
          <a:ln w="0">
            <a:noFill/>
            <a:prstDash val="solid"/>
          </a:ln>
        </p:spPr>
        <p:txBody>
          <a:bodyPr anchor="t"/>
          <a:lstStyle/>
          <a:p>
            <a:pPr algn="l">
              <a:defRPr sz="1275" b="1" i="0">
                <a:solidFill>
                  <a:srgbClr val="137D72"/>
                </a:solidFill>
              </a:defRPr>
            </a:pPr>
            <a:r>
              <a:rPr sz="1275" b="1" i="0">
                <a:solidFill>
                  <a:srgbClr val="137D72"/>
                </a:solidFill>
              </a:rPr>
              <a:t>01</a:t>
            </a:r>
          </a:p>
        </p:txBody>
      </p:sp>
      <p:sp>
        <p:nvSpPr>
          <p:cNvPr id="8" name="deploy-dot-01">
            <a:extLst>
              <a:ext uri="{FF2B5EF4-FFF2-40B4-BE49-F238E27FC236}">
                <a16:creationId xmlns:a16="http://schemas.microsoft.com/office/drawing/2014/main" id="{38415B9C-074C-49AC-B8AC-D32777340678}"/>
              </a:ext>
            </a:extLst>
          </p:cNvPr>
          <p:cNvSpPr>
            <a:spLocks noGrp="1"/>
          </p:cNvSpPr>
          <p:nvPr/>
        </p:nvSpPr>
        <p:spPr>
          <a:xfrm>
            <a:off x="762000" y="2676525"/>
            <a:ext cx="238125" cy="238125"/>
          </a:xfrm>
          <a:prstGeom prst="ellipse">
            <a:avLst/>
          </a:prstGeom>
          <a:solidFill>
            <a:srgbClr val="43E0C1"/>
          </a:solidFill>
          <a:ln w="0">
            <a:noFill/>
            <a:prstDash val="solid"/>
          </a:ln>
        </p:spPr>
        <p:txBody>
          <a:bodyPr/>
          <a:lstStyle/>
          <a:p>
            <a:endParaRPr lang="en-US"/>
          </a:p>
        </p:txBody>
      </p:sp>
      <p:sp>
        <p:nvSpPr>
          <p:cNvPr id="9" name="deploy-title-01">
            <a:extLst>
              <a:ext uri="{FF2B5EF4-FFF2-40B4-BE49-F238E27FC236}">
                <a16:creationId xmlns:a16="http://schemas.microsoft.com/office/drawing/2014/main" id="{A789CE9C-7285-4643-AFFA-28AE6B5F2E75}"/>
              </a:ext>
            </a:extLst>
          </p:cNvPr>
          <p:cNvSpPr>
            <a:spLocks noGrp="1"/>
          </p:cNvSpPr>
          <p:nvPr/>
        </p:nvSpPr>
        <p:spPr>
          <a:xfrm>
            <a:off x="762000" y="3257550"/>
            <a:ext cx="2095500" cy="381000"/>
          </a:xfrm>
          <a:prstGeom prst="rect">
            <a:avLst/>
          </a:prstGeom>
          <a:noFill/>
          <a:ln w="0">
            <a:noFill/>
            <a:prstDash val="solid"/>
          </a:ln>
        </p:spPr>
        <p:txBody>
          <a:bodyPr anchor="t"/>
          <a:lstStyle/>
          <a:p>
            <a:pPr algn="l">
              <a:defRPr sz="1875" b="1" i="0">
                <a:solidFill>
                  <a:srgbClr val="0B132B"/>
                </a:solidFill>
              </a:defRPr>
            </a:pPr>
            <a:r>
              <a:rPr sz="1875" b="1" i="0">
                <a:solidFill>
                  <a:srgbClr val="0B132B"/>
                </a:solidFill>
              </a:rPr>
              <a:t>Validate</a:t>
            </a:r>
          </a:p>
        </p:txBody>
      </p:sp>
      <p:sp>
        <p:nvSpPr>
          <p:cNvPr id="10" name="deploy-detail-01">
            <a:extLst>
              <a:ext uri="{FF2B5EF4-FFF2-40B4-BE49-F238E27FC236}">
                <a16:creationId xmlns:a16="http://schemas.microsoft.com/office/drawing/2014/main" id="{8071EB49-84B3-4197-B7B0-D989CBD3539E}"/>
              </a:ext>
            </a:extLst>
          </p:cNvPr>
          <p:cNvSpPr>
            <a:spLocks noGrp="1"/>
          </p:cNvSpPr>
          <p:nvPr/>
        </p:nvSpPr>
        <p:spPr>
          <a:xfrm>
            <a:off x="762000" y="3781425"/>
            <a:ext cx="2143125" cy="1000125"/>
          </a:xfrm>
          <a:prstGeom prst="rect">
            <a:avLst/>
          </a:prstGeom>
          <a:noFill/>
          <a:ln w="0">
            <a:noFill/>
            <a:prstDash val="solid"/>
          </a:ln>
        </p:spPr>
        <p:txBody>
          <a:bodyPr anchor="t"/>
          <a:lstStyle/>
          <a:p>
            <a:pPr algn="l">
              <a:defRPr sz="1425" b="0" i="0">
                <a:solidFill>
                  <a:srgbClr val="596273"/>
                </a:solidFill>
              </a:defRPr>
            </a:pPr>
            <a:r>
              <a:rPr sz="1425" b="0" i="0">
                <a:solidFill>
                  <a:srgbClr val="596273"/>
                </a:solidFill>
              </a:rPr>
              <a:t>Restore dependencies, build the solution, and run automated tests.</a:t>
            </a:r>
          </a:p>
        </p:txBody>
      </p:sp>
      <p:sp>
        <p:nvSpPr>
          <p:cNvPr id="11" name="deploy-num-02">
            <a:extLst>
              <a:ext uri="{FF2B5EF4-FFF2-40B4-BE49-F238E27FC236}">
                <a16:creationId xmlns:a16="http://schemas.microsoft.com/office/drawing/2014/main" id="{7378BBEF-E6BB-43A9-B116-B00DF6AA7D2A}"/>
              </a:ext>
            </a:extLst>
          </p:cNvPr>
          <p:cNvSpPr>
            <a:spLocks noGrp="1"/>
          </p:cNvSpPr>
          <p:nvPr/>
        </p:nvSpPr>
        <p:spPr>
          <a:xfrm>
            <a:off x="3333750" y="2095500"/>
            <a:ext cx="571500" cy="285750"/>
          </a:xfrm>
          <a:prstGeom prst="rect">
            <a:avLst/>
          </a:prstGeom>
          <a:noFill/>
          <a:ln w="0">
            <a:noFill/>
            <a:prstDash val="solid"/>
          </a:ln>
        </p:spPr>
        <p:txBody>
          <a:bodyPr anchor="t"/>
          <a:lstStyle/>
          <a:p>
            <a:pPr algn="l">
              <a:defRPr sz="1275" b="1" i="0">
                <a:solidFill>
                  <a:srgbClr val="137D72"/>
                </a:solidFill>
              </a:defRPr>
            </a:pPr>
            <a:r>
              <a:rPr sz="1275" b="1" i="0">
                <a:solidFill>
                  <a:srgbClr val="137D72"/>
                </a:solidFill>
              </a:rPr>
              <a:t>02</a:t>
            </a:r>
          </a:p>
        </p:txBody>
      </p:sp>
      <p:sp>
        <p:nvSpPr>
          <p:cNvPr id="12" name="deploy-dot-02">
            <a:extLst>
              <a:ext uri="{FF2B5EF4-FFF2-40B4-BE49-F238E27FC236}">
                <a16:creationId xmlns:a16="http://schemas.microsoft.com/office/drawing/2014/main" id="{0459168B-95E6-41C1-A2D9-7922FEFB9594}"/>
              </a:ext>
            </a:extLst>
          </p:cNvPr>
          <p:cNvSpPr>
            <a:spLocks noGrp="1"/>
          </p:cNvSpPr>
          <p:nvPr/>
        </p:nvSpPr>
        <p:spPr>
          <a:xfrm>
            <a:off x="3333750" y="2676525"/>
            <a:ext cx="238125" cy="238125"/>
          </a:xfrm>
          <a:prstGeom prst="ellipse">
            <a:avLst/>
          </a:prstGeom>
          <a:solidFill>
            <a:srgbClr val="43E0C1"/>
          </a:solidFill>
          <a:ln w="0">
            <a:noFill/>
            <a:prstDash val="solid"/>
          </a:ln>
        </p:spPr>
        <p:txBody>
          <a:bodyPr/>
          <a:lstStyle/>
          <a:p>
            <a:endParaRPr lang="en-US"/>
          </a:p>
        </p:txBody>
      </p:sp>
      <p:sp>
        <p:nvSpPr>
          <p:cNvPr id="13" name="deploy-title-02">
            <a:extLst>
              <a:ext uri="{FF2B5EF4-FFF2-40B4-BE49-F238E27FC236}">
                <a16:creationId xmlns:a16="http://schemas.microsoft.com/office/drawing/2014/main" id="{42E4762C-C740-46B4-9AB3-AF781C949DB5}"/>
              </a:ext>
            </a:extLst>
          </p:cNvPr>
          <p:cNvSpPr>
            <a:spLocks noGrp="1"/>
          </p:cNvSpPr>
          <p:nvPr/>
        </p:nvSpPr>
        <p:spPr>
          <a:xfrm>
            <a:off x="3333750" y="3257550"/>
            <a:ext cx="2095500" cy="381000"/>
          </a:xfrm>
          <a:prstGeom prst="rect">
            <a:avLst/>
          </a:prstGeom>
          <a:noFill/>
          <a:ln w="0">
            <a:noFill/>
            <a:prstDash val="solid"/>
          </a:ln>
        </p:spPr>
        <p:txBody>
          <a:bodyPr anchor="t"/>
          <a:lstStyle/>
          <a:p>
            <a:pPr algn="l">
              <a:defRPr sz="1875" b="1" i="0">
                <a:solidFill>
                  <a:srgbClr val="0B132B"/>
                </a:solidFill>
              </a:defRPr>
            </a:pPr>
            <a:r>
              <a:rPr sz="1875" b="1" i="0">
                <a:solidFill>
                  <a:srgbClr val="0B132B"/>
                </a:solidFill>
              </a:rPr>
              <a:t>Publish</a:t>
            </a:r>
          </a:p>
        </p:txBody>
      </p:sp>
      <p:sp>
        <p:nvSpPr>
          <p:cNvPr id="14" name="deploy-detail-02">
            <a:extLst>
              <a:ext uri="{FF2B5EF4-FFF2-40B4-BE49-F238E27FC236}">
                <a16:creationId xmlns:a16="http://schemas.microsoft.com/office/drawing/2014/main" id="{37BA72FC-98C7-42B9-8D7A-FFBEE64555AA}"/>
              </a:ext>
            </a:extLst>
          </p:cNvPr>
          <p:cNvSpPr>
            <a:spLocks noGrp="1"/>
          </p:cNvSpPr>
          <p:nvPr/>
        </p:nvSpPr>
        <p:spPr>
          <a:xfrm>
            <a:off x="3333750" y="3781425"/>
            <a:ext cx="2143125" cy="1000125"/>
          </a:xfrm>
          <a:prstGeom prst="rect">
            <a:avLst/>
          </a:prstGeom>
          <a:noFill/>
          <a:ln w="0">
            <a:noFill/>
            <a:prstDash val="solid"/>
          </a:ln>
        </p:spPr>
        <p:txBody>
          <a:bodyPr anchor="t"/>
          <a:lstStyle/>
          <a:p>
            <a:pPr algn="l">
              <a:defRPr sz="1425" b="0" i="0">
                <a:solidFill>
                  <a:srgbClr val="596273"/>
                </a:solidFill>
              </a:defRPr>
            </a:pPr>
            <a:r>
              <a:rPr sz="1425" b="0" i="0">
                <a:solidFill>
                  <a:srgbClr val="596273"/>
                </a:solidFill>
              </a:rPr>
              <a:t>Publish the client and API into a versioned release.</a:t>
            </a:r>
          </a:p>
        </p:txBody>
      </p:sp>
      <p:sp>
        <p:nvSpPr>
          <p:cNvPr id="15" name="deploy-num-03">
            <a:extLst>
              <a:ext uri="{FF2B5EF4-FFF2-40B4-BE49-F238E27FC236}">
                <a16:creationId xmlns:a16="http://schemas.microsoft.com/office/drawing/2014/main" id="{BC115C20-7DD4-4CB3-A2FB-C78604CC2141}"/>
              </a:ext>
            </a:extLst>
          </p:cNvPr>
          <p:cNvSpPr>
            <a:spLocks noGrp="1"/>
          </p:cNvSpPr>
          <p:nvPr/>
        </p:nvSpPr>
        <p:spPr>
          <a:xfrm>
            <a:off x="5905500" y="2095500"/>
            <a:ext cx="571500" cy="285750"/>
          </a:xfrm>
          <a:prstGeom prst="rect">
            <a:avLst/>
          </a:prstGeom>
          <a:noFill/>
          <a:ln w="0">
            <a:noFill/>
            <a:prstDash val="solid"/>
          </a:ln>
        </p:spPr>
        <p:txBody>
          <a:bodyPr anchor="t"/>
          <a:lstStyle/>
          <a:p>
            <a:pPr algn="l">
              <a:defRPr sz="1275" b="1" i="0">
                <a:solidFill>
                  <a:srgbClr val="137D72"/>
                </a:solidFill>
              </a:defRPr>
            </a:pPr>
            <a:r>
              <a:rPr sz="1275" b="1" i="0">
                <a:solidFill>
                  <a:srgbClr val="137D72"/>
                </a:solidFill>
              </a:rPr>
              <a:t>03</a:t>
            </a:r>
          </a:p>
        </p:txBody>
      </p:sp>
      <p:sp>
        <p:nvSpPr>
          <p:cNvPr id="16" name="deploy-dot-03">
            <a:extLst>
              <a:ext uri="{FF2B5EF4-FFF2-40B4-BE49-F238E27FC236}">
                <a16:creationId xmlns:a16="http://schemas.microsoft.com/office/drawing/2014/main" id="{039DC102-110D-46F0-9DC6-D5FF07940CAF}"/>
              </a:ext>
            </a:extLst>
          </p:cNvPr>
          <p:cNvSpPr>
            <a:spLocks noGrp="1"/>
          </p:cNvSpPr>
          <p:nvPr/>
        </p:nvSpPr>
        <p:spPr>
          <a:xfrm>
            <a:off x="5905500" y="2676525"/>
            <a:ext cx="238125" cy="238125"/>
          </a:xfrm>
          <a:prstGeom prst="ellipse">
            <a:avLst/>
          </a:prstGeom>
          <a:solidFill>
            <a:srgbClr val="43E0C1"/>
          </a:solidFill>
          <a:ln w="0">
            <a:noFill/>
            <a:prstDash val="solid"/>
          </a:ln>
        </p:spPr>
        <p:txBody>
          <a:bodyPr/>
          <a:lstStyle/>
          <a:p>
            <a:endParaRPr lang="en-US"/>
          </a:p>
        </p:txBody>
      </p:sp>
      <p:sp>
        <p:nvSpPr>
          <p:cNvPr id="17" name="deploy-title-03">
            <a:extLst>
              <a:ext uri="{FF2B5EF4-FFF2-40B4-BE49-F238E27FC236}">
                <a16:creationId xmlns:a16="http://schemas.microsoft.com/office/drawing/2014/main" id="{95C01F11-32DD-4759-B913-462BA648E177}"/>
              </a:ext>
            </a:extLst>
          </p:cNvPr>
          <p:cNvSpPr>
            <a:spLocks noGrp="1"/>
          </p:cNvSpPr>
          <p:nvPr/>
        </p:nvSpPr>
        <p:spPr>
          <a:xfrm>
            <a:off x="5905500" y="3257550"/>
            <a:ext cx="2095500" cy="381000"/>
          </a:xfrm>
          <a:prstGeom prst="rect">
            <a:avLst/>
          </a:prstGeom>
          <a:noFill/>
          <a:ln w="0">
            <a:noFill/>
            <a:prstDash val="solid"/>
          </a:ln>
        </p:spPr>
        <p:txBody>
          <a:bodyPr anchor="t"/>
          <a:lstStyle/>
          <a:p>
            <a:pPr algn="l">
              <a:defRPr sz="1875" b="1" i="0">
                <a:solidFill>
                  <a:srgbClr val="0B132B"/>
                </a:solidFill>
              </a:defRPr>
            </a:pPr>
            <a:r>
              <a:rPr sz="1875" b="1" i="0">
                <a:solidFill>
                  <a:srgbClr val="0B132B"/>
                </a:solidFill>
              </a:rPr>
              <a:t>Switch</a:t>
            </a:r>
          </a:p>
        </p:txBody>
      </p:sp>
      <p:sp>
        <p:nvSpPr>
          <p:cNvPr id="18" name="deploy-detail-03">
            <a:extLst>
              <a:ext uri="{FF2B5EF4-FFF2-40B4-BE49-F238E27FC236}">
                <a16:creationId xmlns:a16="http://schemas.microsoft.com/office/drawing/2014/main" id="{69EFCB80-EF46-4A40-8E90-A21C61F77619}"/>
              </a:ext>
            </a:extLst>
          </p:cNvPr>
          <p:cNvSpPr>
            <a:spLocks noGrp="1"/>
          </p:cNvSpPr>
          <p:nvPr/>
        </p:nvSpPr>
        <p:spPr>
          <a:xfrm>
            <a:off x="5905500" y="3781425"/>
            <a:ext cx="2143125" cy="1000125"/>
          </a:xfrm>
          <a:prstGeom prst="rect">
            <a:avLst/>
          </a:prstGeom>
          <a:noFill/>
          <a:ln w="0">
            <a:noFill/>
            <a:prstDash val="solid"/>
          </a:ln>
        </p:spPr>
        <p:txBody>
          <a:bodyPr anchor="t"/>
          <a:lstStyle/>
          <a:p>
            <a:pPr algn="l">
              <a:defRPr sz="1425" b="0" i="0">
                <a:solidFill>
                  <a:srgbClr val="596273"/>
                </a:solidFill>
              </a:defRPr>
            </a:pPr>
            <a:r>
              <a:rPr sz="1425" b="0" i="0">
                <a:solidFill>
                  <a:srgbClr val="596273"/>
                </a:solidFill>
              </a:rPr>
              <a:t>Update IIS release pointers and recycle the app pool.</a:t>
            </a:r>
          </a:p>
        </p:txBody>
      </p:sp>
      <p:sp>
        <p:nvSpPr>
          <p:cNvPr id="19" name="deploy-num-04">
            <a:extLst>
              <a:ext uri="{FF2B5EF4-FFF2-40B4-BE49-F238E27FC236}">
                <a16:creationId xmlns:a16="http://schemas.microsoft.com/office/drawing/2014/main" id="{072AB6F1-9001-49AB-9CE4-6698C71845B9}"/>
              </a:ext>
            </a:extLst>
          </p:cNvPr>
          <p:cNvSpPr>
            <a:spLocks noGrp="1"/>
          </p:cNvSpPr>
          <p:nvPr/>
        </p:nvSpPr>
        <p:spPr>
          <a:xfrm>
            <a:off x="8477250" y="2095500"/>
            <a:ext cx="571500" cy="285750"/>
          </a:xfrm>
          <a:prstGeom prst="rect">
            <a:avLst/>
          </a:prstGeom>
          <a:noFill/>
          <a:ln w="0">
            <a:noFill/>
            <a:prstDash val="solid"/>
          </a:ln>
        </p:spPr>
        <p:txBody>
          <a:bodyPr anchor="t"/>
          <a:lstStyle/>
          <a:p>
            <a:pPr algn="l">
              <a:defRPr sz="1275" b="1" i="0">
                <a:solidFill>
                  <a:srgbClr val="137D72"/>
                </a:solidFill>
              </a:defRPr>
            </a:pPr>
            <a:r>
              <a:rPr sz="1275" b="1" i="0">
                <a:solidFill>
                  <a:srgbClr val="137D72"/>
                </a:solidFill>
              </a:rPr>
              <a:t>04</a:t>
            </a:r>
          </a:p>
        </p:txBody>
      </p:sp>
      <p:sp>
        <p:nvSpPr>
          <p:cNvPr id="20" name="deploy-dot-04">
            <a:extLst>
              <a:ext uri="{FF2B5EF4-FFF2-40B4-BE49-F238E27FC236}">
                <a16:creationId xmlns:a16="http://schemas.microsoft.com/office/drawing/2014/main" id="{7F33B73B-71C4-4ADE-A826-85F73F7483EC}"/>
              </a:ext>
            </a:extLst>
          </p:cNvPr>
          <p:cNvSpPr>
            <a:spLocks noGrp="1"/>
          </p:cNvSpPr>
          <p:nvPr/>
        </p:nvSpPr>
        <p:spPr>
          <a:xfrm>
            <a:off x="8477250" y="2676525"/>
            <a:ext cx="238125" cy="238125"/>
          </a:xfrm>
          <a:prstGeom prst="ellipse">
            <a:avLst/>
          </a:prstGeom>
          <a:solidFill>
            <a:srgbClr val="43E0C1"/>
          </a:solidFill>
          <a:ln w="0">
            <a:noFill/>
            <a:prstDash val="solid"/>
          </a:ln>
        </p:spPr>
        <p:txBody>
          <a:bodyPr/>
          <a:lstStyle/>
          <a:p>
            <a:endParaRPr lang="en-US"/>
          </a:p>
        </p:txBody>
      </p:sp>
      <p:sp>
        <p:nvSpPr>
          <p:cNvPr id="21" name="deploy-title-04">
            <a:extLst>
              <a:ext uri="{FF2B5EF4-FFF2-40B4-BE49-F238E27FC236}">
                <a16:creationId xmlns:a16="http://schemas.microsoft.com/office/drawing/2014/main" id="{BCDDCCA9-5DE0-4BEC-B018-CE95BD2A588A}"/>
              </a:ext>
            </a:extLst>
          </p:cNvPr>
          <p:cNvSpPr>
            <a:spLocks noGrp="1"/>
          </p:cNvSpPr>
          <p:nvPr/>
        </p:nvSpPr>
        <p:spPr>
          <a:xfrm>
            <a:off x="8477250" y="3257550"/>
            <a:ext cx="2095500" cy="381000"/>
          </a:xfrm>
          <a:prstGeom prst="rect">
            <a:avLst/>
          </a:prstGeom>
          <a:noFill/>
          <a:ln w="0">
            <a:noFill/>
            <a:prstDash val="solid"/>
          </a:ln>
        </p:spPr>
        <p:txBody>
          <a:bodyPr anchor="t"/>
          <a:lstStyle/>
          <a:p>
            <a:pPr algn="l">
              <a:defRPr sz="1875" b="1" i="0">
                <a:solidFill>
                  <a:srgbClr val="0B132B"/>
                </a:solidFill>
              </a:defRPr>
            </a:pPr>
            <a:r>
              <a:rPr sz="1875" b="1" i="0">
                <a:solidFill>
                  <a:srgbClr val="0B132B"/>
                </a:solidFill>
              </a:rPr>
              <a:t>Verify</a:t>
            </a:r>
          </a:p>
        </p:txBody>
      </p:sp>
      <p:sp>
        <p:nvSpPr>
          <p:cNvPr id="22" name="deploy-detail-04">
            <a:extLst>
              <a:ext uri="{FF2B5EF4-FFF2-40B4-BE49-F238E27FC236}">
                <a16:creationId xmlns:a16="http://schemas.microsoft.com/office/drawing/2014/main" id="{63CC6A93-5D14-4DA6-83DD-3B7F40C221DA}"/>
              </a:ext>
            </a:extLst>
          </p:cNvPr>
          <p:cNvSpPr>
            <a:spLocks noGrp="1"/>
          </p:cNvSpPr>
          <p:nvPr/>
        </p:nvSpPr>
        <p:spPr>
          <a:xfrm>
            <a:off x="8477250" y="3781425"/>
            <a:ext cx="2143125" cy="1000125"/>
          </a:xfrm>
          <a:prstGeom prst="rect">
            <a:avLst/>
          </a:prstGeom>
          <a:noFill/>
          <a:ln w="0">
            <a:noFill/>
            <a:prstDash val="solid"/>
          </a:ln>
        </p:spPr>
        <p:txBody>
          <a:bodyPr anchor="t"/>
          <a:lstStyle/>
          <a:p>
            <a:pPr algn="l">
              <a:defRPr sz="1425" b="0" i="0">
                <a:solidFill>
                  <a:srgbClr val="596273"/>
                </a:solidFill>
              </a:defRPr>
            </a:pPr>
            <a:r>
              <a:rPr sz="1425" b="0" i="0">
                <a:solidFill>
                  <a:srgbClr val="596273"/>
                </a:solidFill>
              </a:rPr>
              <a:t>Run site, API, redirect, and configuration smoke checks.</a:t>
            </a:r>
          </a:p>
        </p:txBody>
      </p:sp>
      <p:sp>
        <p:nvSpPr>
          <p:cNvPr id="23" name="rollback-callout">
            <a:extLst>
              <a:ext uri="{FF2B5EF4-FFF2-40B4-BE49-F238E27FC236}">
                <a16:creationId xmlns:a16="http://schemas.microsoft.com/office/drawing/2014/main" id="{5EC8566C-778B-4D27-B01D-A8040F52F100}"/>
              </a:ext>
            </a:extLst>
          </p:cNvPr>
          <p:cNvSpPr>
            <a:spLocks noGrp="1"/>
          </p:cNvSpPr>
          <p:nvPr/>
        </p:nvSpPr>
        <p:spPr>
          <a:xfrm>
            <a:off x="762000" y="5286375"/>
            <a:ext cx="10287000" cy="742950"/>
          </a:xfrm>
          <a:prstGeom prst="roundRect">
            <a:avLst>
              <a:gd name="adj" fmla="val 15385"/>
            </a:avLst>
          </a:prstGeom>
          <a:solidFill>
            <a:srgbClr val="F6F7F9"/>
          </a:solidFill>
          <a:ln w="9525">
            <a:solidFill>
              <a:srgbClr val="B8BCC4"/>
            </a:solidFill>
            <a:prstDash val="solid"/>
          </a:ln>
        </p:spPr>
        <p:txBody>
          <a:bodyPr/>
          <a:lstStyle/>
          <a:p>
            <a:endParaRPr lang="en-US"/>
          </a:p>
        </p:txBody>
      </p:sp>
      <p:sp>
        <p:nvSpPr>
          <p:cNvPr id="24" name="rollback-text">
            <a:extLst>
              <a:ext uri="{FF2B5EF4-FFF2-40B4-BE49-F238E27FC236}">
                <a16:creationId xmlns:a16="http://schemas.microsoft.com/office/drawing/2014/main" id="{36B80314-5AB2-42B8-823B-1AB1B4261AE0}"/>
              </a:ext>
            </a:extLst>
          </p:cNvPr>
          <p:cNvSpPr>
            <a:spLocks noGrp="1"/>
          </p:cNvSpPr>
          <p:nvPr/>
        </p:nvSpPr>
        <p:spPr>
          <a:xfrm>
            <a:off x="1047750" y="5514975"/>
            <a:ext cx="9715500" cy="333375"/>
          </a:xfrm>
          <a:prstGeom prst="rect">
            <a:avLst/>
          </a:prstGeom>
          <a:noFill/>
          <a:ln w="0">
            <a:noFill/>
            <a:prstDash val="solid"/>
          </a:ln>
        </p:spPr>
        <p:txBody>
          <a:bodyPr anchor="t"/>
          <a:lstStyle/>
          <a:p>
            <a:pPr algn="ctr">
              <a:defRPr sz="1650" b="1" i="0">
                <a:solidFill>
                  <a:srgbClr val="0B132B"/>
                </a:solidFill>
              </a:defRPr>
            </a:pPr>
            <a:r>
              <a:rPr sz="1650" b="1" i="0">
                <a:solidFill>
                  <a:srgbClr val="0B132B"/>
                </a:solidFill>
              </a:rPr>
              <a:t>Rollback: restore the previous versioned release, recycle IIS, and repeat smoke validation.</a:t>
            </a:r>
          </a:p>
        </p:txBody>
      </p:sp>
    </p:spTree>
    <p:extLst>
      <p:ext uri="{BB962C8B-B14F-4D97-AF65-F5344CB8AC3E}">
        <p14:creationId xmlns:p14="http://schemas.microsoft.com/office/powerpoint/2010/main" val="69600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ection-11">
            <a:extLst>
              <a:ext uri="{FF2B5EF4-FFF2-40B4-BE49-F238E27FC236}">
                <a16:creationId xmlns:a16="http://schemas.microsoft.com/office/drawing/2014/main" id="{2ACBBD0F-27E5-4318-BEFB-89FE8719E5C5}"/>
              </a:ext>
            </a:extLst>
          </p:cNvPr>
          <p:cNvSpPr>
            <a:spLocks noGrp="1"/>
          </p:cNvSpPr>
          <p:nvPr/>
        </p:nvSpPr>
        <p:spPr>
          <a:xfrm>
            <a:off x="400050" y="323850"/>
            <a:ext cx="2857500" cy="228600"/>
          </a:xfrm>
          <a:prstGeom prst="rect">
            <a:avLst/>
          </a:prstGeom>
          <a:noFill/>
          <a:ln w="0">
            <a:noFill/>
            <a:prstDash val="solid"/>
          </a:ln>
        </p:spPr>
        <p:txBody>
          <a:bodyPr anchor="t"/>
          <a:lstStyle/>
          <a:p>
            <a:pPr algn="l">
              <a:defRPr sz="1125" b="1" i="0">
                <a:solidFill>
                  <a:srgbClr val="137D72"/>
                </a:solidFill>
              </a:defRPr>
            </a:pPr>
            <a:r>
              <a:rPr sz="1125" b="1" i="0">
                <a:solidFill>
                  <a:srgbClr val="137D72"/>
                </a:solidFill>
              </a:rPr>
              <a:t>MAINTENANCE</a:t>
            </a:r>
          </a:p>
        </p:txBody>
      </p:sp>
      <p:sp>
        <p:nvSpPr>
          <p:cNvPr id="2" name="title-11">
            <a:extLst>
              <a:ext uri="{FF2B5EF4-FFF2-40B4-BE49-F238E27FC236}">
                <a16:creationId xmlns:a16="http://schemas.microsoft.com/office/drawing/2014/main" id="{072BE268-EAE9-4193-99A3-D250CBF512A8}"/>
              </a:ext>
            </a:extLst>
          </p:cNvPr>
          <p:cNvSpPr>
            <a:spLocks noGrp="1"/>
          </p:cNvSpPr>
          <p:nvPr/>
        </p:nvSpPr>
        <p:spPr>
          <a:xfrm>
            <a:off x="400050" y="628650"/>
            <a:ext cx="10839450" cy="628650"/>
          </a:xfrm>
          <a:prstGeom prst="rect">
            <a:avLst/>
          </a:prstGeom>
          <a:noFill/>
          <a:ln w="0">
            <a:noFill/>
            <a:prstDash val="solid"/>
          </a:ln>
        </p:spPr>
        <p:txBody>
          <a:bodyPr anchor="t"/>
          <a:lstStyle/>
          <a:p>
            <a:pPr algn="l">
              <a:defRPr sz="3225" b="1" i="0">
                <a:solidFill>
                  <a:srgbClr val="0B132B"/>
                </a:solidFill>
              </a:defRPr>
            </a:pPr>
            <a:r>
              <a:rPr sz="3225" b="1" i="0">
                <a:solidFill>
                  <a:srgbClr val="0B132B"/>
                </a:solidFill>
              </a:rPr>
              <a:t>Known risks are documented and actionable</a:t>
            </a:r>
          </a:p>
        </p:txBody>
      </p:sp>
      <p:sp>
        <p:nvSpPr>
          <p:cNvPr id="3" name="rule-42-142">
            <a:extLst>
              <a:ext uri="{FF2B5EF4-FFF2-40B4-BE49-F238E27FC236}">
                <a16:creationId xmlns:a16="http://schemas.microsoft.com/office/drawing/2014/main" id="{0AC19AC1-1B7E-4280-8E96-69211BFF8591}"/>
              </a:ext>
            </a:extLst>
          </p:cNvPr>
          <p:cNvSpPr>
            <a:spLocks noGrp="1"/>
          </p:cNvSpPr>
          <p:nvPr/>
        </p:nvSpPr>
        <p:spPr>
          <a:xfrm>
            <a:off x="400050" y="1352550"/>
            <a:ext cx="11391900" cy="19050"/>
          </a:xfrm>
          <a:prstGeom prst="rect">
            <a:avLst/>
          </a:prstGeom>
          <a:solidFill>
            <a:srgbClr val="0B132B"/>
          </a:solidFill>
          <a:ln w="0">
            <a:noFill/>
            <a:prstDash val="solid"/>
          </a:ln>
        </p:spPr>
        <p:txBody>
          <a:bodyPr/>
          <a:lstStyle/>
          <a:p>
            <a:endParaRPr lang="en-US"/>
          </a:p>
        </p:txBody>
      </p:sp>
      <p:sp>
        <p:nvSpPr>
          <p:cNvPr id="4" name="footer-label-11">
            <a:extLst>
              <a:ext uri="{FF2B5EF4-FFF2-40B4-BE49-F238E27FC236}">
                <a16:creationId xmlns:a16="http://schemas.microsoft.com/office/drawing/2014/main" id="{49776167-A107-4D80-9EE8-047B44438F6E}"/>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5" name="footer-number-11">
            <a:extLst>
              <a:ext uri="{FF2B5EF4-FFF2-40B4-BE49-F238E27FC236}">
                <a16:creationId xmlns:a16="http://schemas.microsoft.com/office/drawing/2014/main" id="{721920E3-2C61-45D7-BC5C-ACCB82F2AD0D}"/>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11</a:t>
            </a:r>
          </a:p>
        </p:txBody>
      </p:sp>
      <p:sp>
        <p:nvSpPr>
          <p:cNvPr id="6" name="risk-label">
            <a:extLst>
              <a:ext uri="{FF2B5EF4-FFF2-40B4-BE49-F238E27FC236}">
                <a16:creationId xmlns:a16="http://schemas.microsoft.com/office/drawing/2014/main" id="{2423E4E8-AAD4-41CC-9DD2-35E91123AB37}"/>
              </a:ext>
            </a:extLst>
          </p:cNvPr>
          <p:cNvSpPr>
            <a:spLocks noGrp="1"/>
          </p:cNvSpPr>
          <p:nvPr/>
        </p:nvSpPr>
        <p:spPr>
          <a:xfrm>
            <a:off x="590550" y="1781175"/>
            <a:ext cx="4572000" cy="266700"/>
          </a:xfrm>
          <a:prstGeom prst="rect">
            <a:avLst/>
          </a:prstGeom>
          <a:noFill/>
          <a:ln w="0">
            <a:noFill/>
            <a:prstDash val="solid"/>
          </a:ln>
        </p:spPr>
        <p:txBody>
          <a:bodyPr anchor="t"/>
          <a:lstStyle/>
          <a:p>
            <a:pPr algn="l">
              <a:defRPr sz="1200" b="1" i="0">
                <a:solidFill>
                  <a:srgbClr val="D9544D"/>
                </a:solidFill>
              </a:defRPr>
            </a:pPr>
            <a:r>
              <a:rPr sz="1200" b="1" i="0">
                <a:solidFill>
                  <a:srgbClr val="D9544D"/>
                </a:solidFill>
              </a:rPr>
              <a:t>CURRENT KNOWN RISK</a:t>
            </a:r>
          </a:p>
        </p:txBody>
      </p:sp>
      <p:sp>
        <p:nvSpPr>
          <p:cNvPr id="7" name="risk-title">
            <a:extLst>
              <a:ext uri="{FF2B5EF4-FFF2-40B4-BE49-F238E27FC236}">
                <a16:creationId xmlns:a16="http://schemas.microsoft.com/office/drawing/2014/main" id="{C5586F23-C6CE-4F83-99A1-848541A8E94C}"/>
              </a:ext>
            </a:extLst>
          </p:cNvPr>
          <p:cNvSpPr>
            <a:spLocks noGrp="1"/>
          </p:cNvSpPr>
          <p:nvPr/>
        </p:nvSpPr>
        <p:spPr>
          <a:xfrm>
            <a:off x="590550" y="2171700"/>
            <a:ext cx="4762500" cy="590550"/>
          </a:xfrm>
          <a:prstGeom prst="rect">
            <a:avLst/>
          </a:prstGeom>
          <a:noFill/>
          <a:ln w="0">
            <a:noFill/>
            <a:prstDash val="solid"/>
          </a:ln>
        </p:spPr>
        <p:txBody>
          <a:bodyPr anchor="t"/>
          <a:lstStyle/>
          <a:p>
            <a:pPr algn="l">
              <a:defRPr sz="2550" b="1" i="0">
                <a:solidFill>
                  <a:srgbClr val="0B132B"/>
                </a:solidFill>
              </a:defRPr>
            </a:pPr>
            <a:r>
              <a:rPr sz="2550" b="1" i="0">
                <a:solidFill>
                  <a:srgbClr val="0B132B"/>
                </a:solidFill>
              </a:rPr>
              <a:t>Dependency audit advisories</a:t>
            </a:r>
          </a:p>
        </p:txBody>
      </p:sp>
      <p:sp>
        <p:nvSpPr>
          <p:cNvPr id="8" name="risk-detail">
            <a:extLst>
              <a:ext uri="{FF2B5EF4-FFF2-40B4-BE49-F238E27FC236}">
                <a16:creationId xmlns:a16="http://schemas.microsoft.com/office/drawing/2014/main" id="{CF7E918E-5717-4A84-A373-41E913201F79}"/>
              </a:ext>
            </a:extLst>
          </p:cNvPr>
          <p:cNvSpPr>
            <a:spLocks noGrp="1"/>
          </p:cNvSpPr>
          <p:nvPr/>
        </p:nvSpPr>
        <p:spPr>
          <a:xfrm>
            <a:off x="590550" y="3009900"/>
            <a:ext cx="4810125" cy="2524125"/>
          </a:xfrm>
          <a:prstGeom prst="rect">
            <a:avLst/>
          </a:prstGeom>
          <a:noFill/>
          <a:ln w="0">
            <a:noFill/>
            <a:prstDash val="solid"/>
          </a:ln>
        </p:spPr>
        <p:txBody>
          <a:bodyPr anchor="t"/>
          <a:lstStyle/>
          <a:p>
            <a:pPr algn="l">
              <a:defRPr sz="1650" b="0" i="0">
                <a:solidFill>
                  <a:srgbClr val="0B132B"/>
                </a:solidFill>
              </a:defRPr>
            </a:pPr>
            <a:r>
              <a:rPr sz="1650" b="0" i="0">
                <a:solidFill>
                  <a:srgbClr val="0B132B"/>
                </a:solidFill>
              </a:rPr>
              <a:t>SharpCompress 0.30.1</a:t>
            </a:r>
          </a:p>
          <a:p>
            <a:pPr algn="l"/>
            <a:r>
              <a:rPr sz="1650" b="0" i="0">
                <a:solidFill>
                  <a:srgbClr val="0B132B"/>
                </a:solidFill>
              </a:rPr>
              <a:t>Moderate severity</a:t>
            </a:r>
          </a:p>
          <a:p>
            <a:pPr algn="l"/>
            <a:endParaRPr sz="1650" b="0" i="0">
              <a:solidFill>
                <a:srgbClr val="0B132B"/>
              </a:solidFill>
            </a:endParaRPr>
          </a:p>
          <a:p>
            <a:pPr algn="l"/>
            <a:r>
              <a:rPr sz="1650" b="0" i="0">
                <a:solidFill>
                  <a:srgbClr val="0B132B"/>
                </a:solidFill>
              </a:rPr>
              <a:t>Snappier 1.0.0</a:t>
            </a:r>
          </a:p>
          <a:p>
            <a:pPr algn="l"/>
            <a:r>
              <a:rPr sz="1650" b="0" i="0">
                <a:solidFill>
                  <a:srgbClr val="0B132B"/>
                </a:solidFill>
              </a:rPr>
              <a:t>High severity</a:t>
            </a:r>
          </a:p>
          <a:p>
            <a:pPr algn="l"/>
            <a:endParaRPr sz="1650" b="0" i="0">
              <a:solidFill>
                <a:srgbClr val="0B132B"/>
              </a:solidFill>
            </a:endParaRPr>
          </a:p>
          <a:p>
            <a:pPr algn="l"/>
            <a:r>
              <a:rPr sz="1650" b="0" i="0">
                <a:solidFill>
                  <a:srgbClr val="0B132B"/>
                </a:solidFill>
              </a:rPr>
              <a:t>Both advisories are transitive and did not cause failures in the final 27-test run.</a:t>
            </a:r>
          </a:p>
        </p:txBody>
      </p:sp>
      <p:sp>
        <p:nvSpPr>
          <p:cNvPr id="9" name="risk-divider">
            <a:extLst>
              <a:ext uri="{FF2B5EF4-FFF2-40B4-BE49-F238E27FC236}">
                <a16:creationId xmlns:a16="http://schemas.microsoft.com/office/drawing/2014/main" id="{8D106C48-7F5E-4469-8107-ACF62BB50F09}"/>
              </a:ext>
            </a:extLst>
          </p:cNvPr>
          <p:cNvSpPr>
            <a:spLocks noGrp="1"/>
          </p:cNvSpPr>
          <p:nvPr/>
        </p:nvSpPr>
        <p:spPr>
          <a:xfrm>
            <a:off x="5905500" y="1809750"/>
            <a:ext cx="19050" cy="3905250"/>
          </a:xfrm>
          <a:prstGeom prst="rect">
            <a:avLst/>
          </a:prstGeom>
          <a:solidFill>
            <a:srgbClr val="B8BCC4"/>
          </a:solidFill>
          <a:ln w="0">
            <a:noFill/>
            <a:prstDash val="solid"/>
          </a:ln>
        </p:spPr>
        <p:txBody>
          <a:bodyPr/>
          <a:lstStyle/>
          <a:p>
            <a:endParaRPr lang="en-US"/>
          </a:p>
        </p:txBody>
      </p:sp>
      <p:sp>
        <p:nvSpPr>
          <p:cNvPr id="10" name="response-label">
            <a:extLst>
              <a:ext uri="{FF2B5EF4-FFF2-40B4-BE49-F238E27FC236}">
                <a16:creationId xmlns:a16="http://schemas.microsoft.com/office/drawing/2014/main" id="{FE5DF578-29E1-40E7-B23F-A463AB9B1365}"/>
              </a:ext>
            </a:extLst>
          </p:cNvPr>
          <p:cNvSpPr>
            <a:spLocks noGrp="1"/>
          </p:cNvSpPr>
          <p:nvPr/>
        </p:nvSpPr>
        <p:spPr>
          <a:xfrm>
            <a:off x="6429375" y="1781175"/>
            <a:ext cx="4572000" cy="26670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MAINTENANCE RESPONSE</a:t>
            </a:r>
          </a:p>
        </p:txBody>
      </p:sp>
      <p:sp>
        <p:nvSpPr>
          <p:cNvPr id="11" name="response-detail">
            <a:extLst>
              <a:ext uri="{FF2B5EF4-FFF2-40B4-BE49-F238E27FC236}">
                <a16:creationId xmlns:a16="http://schemas.microsoft.com/office/drawing/2014/main" id="{5542787C-6EE0-4E4B-BC8E-965BAB8D0FA6}"/>
              </a:ext>
            </a:extLst>
          </p:cNvPr>
          <p:cNvSpPr>
            <a:spLocks noGrp="1"/>
          </p:cNvSpPr>
          <p:nvPr/>
        </p:nvSpPr>
        <p:spPr>
          <a:xfrm>
            <a:off x="6429375" y="2209800"/>
            <a:ext cx="4762500" cy="3381375"/>
          </a:xfrm>
          <a:prstGeom prst="rect">
            <a:avLst/>
          </a:prstGeom>
          <a:noFill/>
          <a:ln w="0">
            <a:noFill/>
            <a:prstDash val="solid"/>
          </a:ln>
        </p:spPr>
        <p:txBody>
          <a:bodyPr anchor="t"/>
          <a:lstStyle/>
          <a:p>
            <a:pPr algn="l">
              <a:defRPr sz="1725" b="1" i="0">
                <a:solidFill>
                  <a:srgbClr val="0B132B"/>
                </a:solidFill>
              </a:defRPr>
            </a:pPr>
            <a:r>
              <a:rPr sz="1725" b="1" i="0">
                <a:solidFill>
                  <a:srgbClr val="0B132B"/>
                </a:solidFill>
              </a:rPr>
              <a:t>1  Track upstream package updates</a:t>
            </a:r>
          </a:p>
          <a:p>
            <a:pPr algn="l"/>
            <a:endParaRPr sz="1725" b="1" i="0">
              <a:solidFill>
                <a:srgbClr val="0B132B"/>
              </a:solidFill>
            </a:endParaRPr>
          </a:p>
          <a:p>
            <a:pPr algn="l"/>
            <a:r>
              <a:rPr sz="1725" b="1" i="0">
                <a:solidFill>
                  <a:srgbClr val="0B132B"/>
                </a:solidFill>
              </a:rPr>
              <a:t>2  Review release notes and compatibility</a:t>
            </a:r>
          </a:p>
          <a:p>
            <a:pPr algn="l"/>
            <a:endParaRPr sz="1725" b="1" i="0">
              <a:solidFill>
                <a:srgbClr val="0B132B"/>
              </a:solidFill>
            </a:endParaRPr>
          </a:p>
          <a:p>
            <a:pPr algn="l"/>
            <a:r>
              <a:rPr sz="1725" b="1" i="0">
                <a:solidFill>
                  <a:srgbClr val="0B132B"/>
                </a:solidFill>
              </a:rPr>
              <a:t>3  Apply fixes in a maintenance branch</a:t>
            </a:r>
          </a:p>
          <a:p>
            <a:pPr algn="l"/>
            <a:endParaRPr sz="1725" b="1" i="0">
              <a:solidFill>
                <a:srgbClr val="0B132B"/>
              </a:solidFill>
            </a:endParaRPr>
          </a:p>
          <a:p>
            <a:pPr algn="l"/>
            <a:r>
              <a:rPr sz="1725" b="1" i="0">
                <a:solidFill>
                  <a:srgbClr val="0B132B"/>
                </a:solidFill>
              </a:rPr>
              <a:t>4  Rerun the 27-test suite and smoke checks</a:t>
            </a:r>
          </a:p>
          <a:p>
            <a:pPr algn="l"/>
            <a:endParaRPr sz="1725" b="1" i="0">
              <a:solidFill>
                <a:srgbClr val="0B132B"/>
              </a:solidFill>
            </a:endParaRPr>
          </a:p>
          <a:p>
            <a:pPr algn="l"/>
            <a:r>
              <a:rPr sz="1725" b="1" i="0">
                <a:solidFill>
                  <a:srgbClr val="0B132B"/>
                </a:solidFill>
              </a:rPr>
              <a:t>5  Deploy through the versioned release process</a:t>
            </a:r>
          </a:p>
        </p:txBody>
      </p:sp>
    </p:spTree>
    <p:extLst>
      <p:ext uri="{BB962C8B-B14F-4D97-AF65-F5344CB8AC3E}">
        <p14:creationId xmlns:p14="http://schemas.microsoft.com/office/powerpoint/2010/main" val="586945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close-eyebrow">
            <a:extLst>
              <a:ext uri="{FF2B5EF4-FFF2-40B4-BE49-F238E27FC236}">
                <a16:creationId xmlns:a16="http://schemas.microsoft.com/office/drawing/2014/main" id="{CF3CB56E-59D8-441A-9E0D-284C9221BB76}"/>
              </a:ext>
            </a:extLst>
          </p:cNvPr>
          <p:cNvSpPr>
            <a:spLocks noGrp="1"/>
          </p:cNvSpPr>
          <p:nvPr/>
        </p:nvSpPr>
        <p:spPr>
          <a:xfrm>
            <a:off x="400050" y="419100"/>
            <a:ext cx="3333750" cy="266700"/>
          </a:xfrm>
          <a:prstGeom prst="rect">
            <a:avLst/>
          </a:prstGeom>
          <a:noFill/>
          <a:ln w="0">
            <a:noFill/>
            <a:prstDash val="solid"/>
          </a:ln>
        </p:spPr>
        <p:txBody>
          <a:bodyPr anchor="t"/>
          <a:lstStyle/>
          <a:p>
            <a:pPr algn="l">
              <a:defRPr sz="1200" b="1" i="0">
                <a:solidFill>
                  <a:srgbClr val="137D72"/>
                </a:solidFill>
              </a:defRPr>
            </a:pPr>
            <a:r>
              <a:rPr sz="1200" b="1" i="0">
                <a:solidFill>
                  <a:srgbClr val="137D72"/>
                </a:solidFill>
              </a:rPr>
              <a:t>MILESTONE 5 COMPLETE</a:t>
            </a:r>
          </a:p>
        </p:txBody>
      </p:sp>
      <p:sp>
        <p:nvSpPr>
          <p:cNvPr id="2" name="close-title">
            <a:extLst>
              <a:ext uri="{FF2B5EF4-FFF2-40B4-BE49-F238E27FC236}">
                <a16:creationId xmlns:a16="http://schemas.microsoft.com/office/drawing/2014/main" id="{17BEE172-B80A-4F06-AE24-D3C08F55E0AA}"/>
              </a:ext>
            </a:extLst>
          </p:cNvPr>
          <p:cNvSpPr>
            <a:spLocks noGrp="1"/>
          </p:cNvSpPr>
          <p:nvPr/>
        </p:nvSpPr>
        <p:spPr>
          <a:xfrm>
            <a:off x="400050" y="895350"/>
            <a:ext cx="9525000" cy="800100"/>
          </a:xfrm>
          <a:prstGeom prst="rect">
            <a:avLst/>
          </a:prstGeom>
          <a:noFill/>
          <a:ln w="0">
            <a:noFill/>
            <a:prstDash val="solid"/>
          </a:ln>
        </p:spPr>
        <p:txBody>
          <a:bodyPr anchor="t"/>
          <a:lstStyle/>
          <a:p>
            <a:pPr algn="l">
              <a:defRPr sz="3900" b="1" i="0">
                <a:solidFill>
                  <a:srgbClr val="0B132B"/>
                </a:solidFill>
              </a:defRPr>
            </a:pPr>
            <a:r>
              <a:rPr sz="3900" b="1" i="0">
                <a:solidFill>
                  <a:srgbClr val="0B132B"/>
                </a:solidFill>
              </a:rPr>
              <a:t>ITAMS is ready for final review</a:t>
            </a:r>
          </a:p>
        </p:txBody>
      </p:sp>
      <p:sp>
        <p:nvSpPr>
          <p:cNvPr id="3" name="close-left-title">
            <a:extLst>
              <a:ext uri="{FF2B5EF4-FFF2-40B4-BE49-F238E27FC236}">
                <a16:creationId xmlns:a16="http://schemas.microsoft.com/office/drawing/2014/main" id="{B1555A9B-24F1-4F0A-8615-D1563F15204A}"/>
              </a:ext>
            </a:extLst>
          </p:cNvPr>
          <p:cNvSpPr>
            <a:spLocks noGrp="1"/>
          </p:cNvSpPr>
          <p:nvPr/>
        </p:nvSpPr>
        <p:spPr>
          <a:xfrm>
            <a:off x="400050" y="2266950"/>
            <a:ext cx="4095750" cy="342900"/>
          </a:xfrm>
          <a:prstGeom prst="rect">
            <a:avLst/>
          </a:prstGeom>
          <a:noFill/>
          <a:ln w="0">
            <a:noFill/>
            <a:prstDash val="solid"/>
          </a:ln>
        </p:spPr>
        <p:txBody>
          <a:bodyPr anchor="t"/>
          <a:lstStyle/>
          <a:p>
            <a:pPr algn="l">
              <a:defRPr sz="1800" b="1" i="0">
                <a:solidFill>
                  <a:srgbClr val="0B132B"/>
                </a:solidFill>
              </a:defRPr>
            </a:pPr>
            <a:r>
              <a:rPr sz="1800" b="1" i="0">
                <a:solidFill>
                  <a:srgbClr val="0B132B"/>
                </a:solidFill>
              </a:rPr>
              <a:t>Completed evidence</a:t>
            </a:r>
          </a:p>
        </p:txBody>
      </p:sp>
      <p:sp>
        <p:nvSpPr>
          <p:cNvPr id="4" name="close-left-text">
            <a:extLst>
              <a:ext uri="{FF2B5EF4-FFF2-40B4-BE49-F238E27FC236}">
                <a16:creationId xmlns:a16="http://schemas.microsoft.com/office/drawing/2014/main" id="{B70A3A5D-6355-45CE-AB74-432651E984EB}"/>
              </a:ext>
            </a:extLst>
          </p:cNvPr>
          <p:cNvSpPr>
            <a:spLocks noGrp="1"/>
          </p:cNvSpPr>
          <p:nvPr/>
        </p:nvSpPr>
        <p:spPr>
          <a:xfrm>
            <a:off x="400050" y="2809875"/>
            <a:ext cx="4953000" cy="2190750"/>
          </a:xfrm>
          <a:prstGeom prst="rect">
            <a:avLst/>
          </a:prstGeom>
          <a:noFill/>
          <a:ln w="0">
            <a:noFill/>
            <a:prstDash val="solid"/>
          </a:ln>
        </p:spPr>
        <p:txBody>
          <a:bodyPr anchor="t"/>
          <a:lstStyle/>
          <a:p>
            <a:pPr algn="l">
              <a:defRPr sz="1650" b="0" i="0">
                <a:solidFill>
                  <a:srgbClr val="0B132B"/>
                </a:solidFill>
              </a:defRPr>
            </a:pPr>
            <a:r>
              <a:rPr sz="1650" b="0" i="0">
                <a:solidFill>
                  <a:srgbClr val="0B132B"/>
                </a:solidFill>
              </a:rPr>
              <a:t>• Production application</a:t>
            </a:r>
          </a:p>
          <a:p>
            <a:pPr algn="l"/>
            <a:r>
              <a:rPr sz="1650" b="0" i="0">
                <a:solidFill>
                  <a:srgbClr val="0B132B"/>
                </a:solidFill>
              </a:rPr>
              <a:t>• Nine finalized documentation artifacts</a:t>
            </a:r>
          </a:p>
          <a:p>
            <a:pPr algn="l"/>
            <a:r>
              <a:rPr sz="1650" b="0" i="0">
                <a:solidFill>
                  <a:srgbClr val="0B132B"/>
                </a:solidFill>
              </a:rPr>
              <a:t>• Instructor approval recorded as granted</a:t>
            </a:r>
          </a:p>
          <a:p>
            <a:pPr algn="l"/>
            <a:r>
              <a:rPr sz="1650" b="0" i="0">
                <a:solidFill>
                  <a:srgbClr val="0B132B"/>
                </a:solidFill>
              </a:rPr>
              <a:t>• Traceability aligned across requirements, design, code, and tests</a:t>
            </a:r>
          </a:p>
          <a:p>
            <a:pPr algn="l"/>
            <a:r>
              <a:rPr sz="1650" b="0" i="0">
                <a:solidFill>
                  <a:srgbClr val="0B132B"/>
                </a:solidFill>
              </a:rPr>
              <a:t>• 27/27 automated tests and production smoke validation</a:t>
            </a:r>
          </a:p>
        </p:txBody>
      </p:sp>
      <p:sp>
        <p:nvSpPr>
          <p:cNvPr id="5" name="close-right-title">
            <a:extLst>
              <a:ext uri="{FF2B5EF4-FFF2-40B4-BE49-F238E27FC236}">
                <a16:creationId xmlns:a16="http://schemas.microsoft.com/office/drawing/2014/main" id="{2CC1835C-FA6B-45B2-919A-66D2F59297E0}"/>
              </a:ext>
            </a:extLst>
          </p:cNvPr>
          <p:cNvSpPr>
            <a:spLocks noGrp="1"/>
          </p:cNvSpPr>
          <p:nvPr/>
        </p:nvSpPr>
        <p:spPr>
          <a:xfrm>
            <a:off x="6334125" y="2266950"/>
            <a:ext cx="4095750" cy="342900"/>
          </a:xfrm>
          <a:prstGeom prst="rect">
            <a:avLst/>
          </a:prstGeom>
          <a:noFill/>
          <a:ln w="0">
            <a:noFill/>
            <a:prstDash val="solid"/>
          </a:ln>
        </p:spPr>
        <p:txBody>
          <a:bodyPr anchor="t"/>
          <a:lstStyle/>
          <a:p>
            <a:pPr algn="l">
              <a:defRPr sz="1800" b="1" i="0">
                <a:solidFill>
                  <a:srgbClr val="0B132B"/>
                </a:solidFill>
              </a:defRPr>
            </a:pPr>
            <a:r>
              <a:rPr sz="1800" b="1" i="0">
                <a:solidFill>
                  <a:srgbClr val="0B132B"/>
                </a:solidFill>
              </a:rPr>
              <a:t>LMS package</a:t>
            </a:r>
          </a:p>
        </p:txBody>
      </p:sp>
      <p:sp>
        <p:nvSpPr>
          <p:cNvPr id="6" name="close-right-text">
            <a:extLst>
              <a:ext uri="{FF2B5EF4-FFF2-40B4-BE49-F238E27FC236}">
                <a16:creationId xmlns:a16="http://schemas.microsoft.com/office/drawing/2014/main" id="{8845820C-43BE-460D-8D4E-495530F96FAB}"/>
              </a:ext>
            </a:extLst>
          </p:cNvPr>
          <p:cNvSpPr>
            <a:spLocks noGrp="1"/>
          </p:cNvSpPr>
          <p:nvPr/>
        </p:nvSpPr>
        <p:spPr>
          <a:xfrm>
            <a:off x="6334125" y="2809875"/>
            <a:ext cx="4762500" cy="1905000"/>
          </a:xfrm>
          <a:prstGeom prst="rect">
            <a:avLst/>
          </a:prstGeom>
          <a:noFill/>
          <a:ln w="0">
            <a:noFill/>
            <a:prstDash val="solid"/>
          </a:ln>
        </p:spPr>
        <p:txBody>
          <a:bodyPr anchor="t"/>
          <a:lstStyle/>
          <a:p>
            <a:pPr algn="l">
              <a:defRPr sz="1650" b="0" i="0">
                <a:solidFill>
                  <a:srgbClr val="0B132B"/>
                </a:solidFill>
              </a:defRPr>
            </a:pPr>
            <a:r>
              <a:rPr sz="1650" b="0" i="0">
                <a:solidFill>
                  <a:srgbClr val="0B132B"/>
                </a:solidFill>
              </a:rPr>
              <a:t>• Formal PowerPoint presentation</a:t>
            </a:r>
          </a:p>
          <a:p>
            <a:pPr algn="l"/>
            <a:r>
              <a:rPr sz="1650" b="0" i="0">
                <a:solidFill>
                  <a:srgbClr val="0B132B"/>
                </a:solidFill>
              </a:rPr>
              <a:t>• 10–15 minute screencast and URL</a:t>
            </a:r>
          </a:p>
          <a:p>
            <a:pPr algn="l"/>
            <a:r>
              <a:rPr sz="1650" b="0" i="0">
                <a:solidFill>
                  <a:srgbClr val="0B132B"/>
                </a:solidFill>
              </a:rPr>
              <a:t>• Source-code delivery</a:t>
            </a:r>
          </a:p>
          <a:p>
            <a:pPr algn="l"/>
            <a:r>
              <a:rPr sz="1650" b="0" i="0">
                <a:solidFill>
                  <a:srgbClr val="0B132B"/>
                </a:solidFill>
              </a:rPr>
              <a:t>• Final Documentation ZIP</a:t>
            </a:r>
          </a:p>
        </p:txBody>
      </p:sp>
      <p:sp>
        <p:nvSpPr>
          <p:cNvPr id="7" name="close-band">
            <a:extLst>
              <a:ext uri="{FF2B5EF4-FFF2-40B4-BE49-F238E27FC236}">
                <a16:creationId xmlns:a16="http://schemas.microsoft.com/office/drawing/2014/main" id="{AF81EAE3-219C-4920-B381-45EC27CE72CC}"/>
              </a:ext>
            </a:extLst>
          </p:cNvPr>
          <p:cNvSpPr>
            <a:spLocks noGrp="1"/>
          </p:cNvSpPr>
          <p:nvPr/>
        </p:nvSpPr>
        <p:spPr>
          <a:xfrm>
            <a:off x="400050" y="5381625"/>
            <a:ext cx="11391900" cy="781050"/>
          </a:xfrm>
          <a:prstGeom prst="roundRect">
            <a:avLst>
              <a:gd name="adj" fmla="val 14634"/>
            </a:avLst>
          </a:prstGeom>
          <a:solidFill>
            <a:srgbClr val="1C2541"/>
          </a:solidFill>
          <a:ln w="0">
            <a:noFill/>
            <a:prstDash val="solid"/>
          </a:ln>
        </p:spPr>
        <p:txBody>
          <a:bodyPr/>
          <a:lstStyle/>
          <a:p>
            <a:endParaRPr lang="en-US"/>
          </a:p>
        </p:txBody>
      </p:sp>
      <p:sp>
        <p:nvSpPr>
          <p:cNvPr id="8" name="close-band-text">
            <a:extLst>
              <a:ext uri="{FF2B5EF4-FFF2-40B4-BE49-F238E27FC236}">
                <a16:creationId xmlns:a16="http://schemas.microsoft.com/office/drawing/2014/main" id="{B7197997-EADF-4B7F-A608-38B53583227A}"/>
              </a:ext>
            </a:extLst>
          </p:cNvPr>
          <p:cNvSpPr>
            <a:spLocks noGrp="1"/>
          </p:cNvSpPr>
          <p:nvPr/>
        </p:nvSpPr>
        <p:spPr>
          <a:xfrm>
            <a:off x="857250" y="5600700"/>
            <a:ext cx="10477500" cy="381000"/>
          </a:xfrm>
          <a:prstGeom prst="rect">
            <a:avLst/>
          </a:prstGeom>
          <a:noFill/>
          <a:ln w="0">
            <a:noFill/>
            <a:prstDash val="solid"/>
          </a:ln>
        </p:spPr>
        <p:txBody>
          <a:bodyPr anchor="t"/>
          <a:lstStyle/>
          <a:p>
            <a:pPr algn="ctr">
              <a:defRPr sz="2175" b="1" i="0">
                <a:solidFill>
                  <a:srgbClr val="FFFFFF"/>
                </a:solidFill>
              </a:defRPr>
            </a:pPr>
            <a:r>
              <a:rPr sz="2175" b="1" i="0">
                <a:solidFill>
                  <a:srgbClr val="FFFFFF"/>
                </a:solidFill>
              </a:rPr>
              <a:t>Questions?  •  https://itams.app/</a:t>
            </a:r>
          </a:p>
        </p:txBody>
      </p:sp>
      <p:sp>
        <p:nvSpPr>
          <p:cNvPr id="9" name="footer-label-12">
            <a:extLst>
              <a:ext uri="{FF2B5EF4-FFF2-40B4-BE49-F238E27FC236}">
                <a16:creationId xmlns:a16="http://schemas.microsoft.com/office/drawing/2014/main" id="{103D9344-2E92-46DD-A761-6352158802A4}"/>
              </a:ext>
            </a:extLst>
          </p:cNvPr>
          <p:cNvSpPr>
            <a:spLocks noGrp="1"/>
          </p:cNvSpPr>
          <p:nvPr/>
        </p:nvSpPr>
        <p:spPr>
          <a:xfrm>
            <a:off x="400050" y="6381750"/>
            <a:ext cx="2857500" cy="209550"/>
          </a:xfrm>
          <a:prstGeom prst="rect">
            <a:avLst/>
          </a:prstGeom>
          <a:noFill/>
          <a:ln w="0">
            <a:noFill/>
            <a:prstDash val="solid"/>
          </a:ln>
        </p:spPr>
        <p:txBody>
          <a:bodyPr anchor="t"/>
          <a:lstStyle/>
          <a:p>
            <a:pPr algn="l">
              <a:defRPr sz="1050" b="0" i="0">
                <a:solidFill>
                  <a:srgbClr val="596273"/>
                </a:solidFill>
              </a:defRPr>
            </a:pPr>
            <a:r>
              <a:rPr sz="1050" b="0" i="0">
                <a:solidFill>
                  <a:srgbClr val="596273"/>
                </a:solidFill>
              </a:rPr>
              <a:t>ITAMS | Milestone 5</a:t>
            </a:r>
          </a:p>
        </p:txBody>
      </p:sp>
      <p:sp>
        <p:nvSpPr>
          <p:cNvPr id="10" name="footer-number-12">
            <a:extLst>
              <a:ext uri="{FF2B5EF4-FFF2-40B4-BE49-F238E27FC236}">
                <a16:creationId xmlns:a16="http://schemas.microsoft.com/office/drawing/2014/main" id="{3BE6F135-02A0-45C3-A009-692AF3AA99B6}"/>
              </a:ext>
            </a:extLst>
          </p:cNvPr>
          <p:cNvSpPr>
            <a:spLocks noGrp="1"/>
          </p:cNvSpPr>
          <p:nvPr/>
        </p:nvSpPr>
        <p:spPr>
          <a:xfrm>
            <a:off x="11334750" y="6381750"/>
            <a:ext cx="428625" cy="209550"/>
          </a:xfrm>
          <a:prstGeom prst="rect">
            <a:avLst/>
          </a:prstGeom>
          <a:noFill/>
          <a:ln w="0">
            <a:noFill/>
            <a:prstDash val="solid"/>
          </a:ln>
        </p:spPr>
        <p:txBody>
          <a:bodyPr anchor="t"/>
          <a:lstStyle/>
          <a:p>
            <a:pPr algn="r">
              <a:defRPr sz="1050" b="0" i="0">
                <a:solidFill>
                  <a:srgbClr val="596273"/>
                </a:solidFill>
              </a:defRPr>
            </a:pPr>
            <a:r>
              <a:rPr sz="1050" b="0" i="0">
                <a:solidFill>
                  <a:srgbClr val="596273"/>
                </a:solidFill>
              </a:rPr>
              <a:t>12</a:t>
            </a:r>
          </a:p>
        </p:txBody>
      </p:sp>
    </p:spTree>
    <p:extLst>
      <p:ext uri="{BB962C8B-B14F-4D97-AF65-F5344CB8AC3E}">
        <p14:creationId xmlns:p14="http://schemas.microsoft.com/office/powerpoint/2010/main" val="11841950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2675</Words>
  <Application>Microsoft Office PowerPoint</Application>
  <DocSecurity>0</DocSecurity>
  <PresentationFormat>Widescreen</PresentationFormat>
  <Paragraphs>243</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Jalen A Bryant</dc:creator>
  <cp:lastModifiedBy>Jalen A Bryant</cp:lastModifiedBy>
  <cp:revision>4</cp:revision>
  <dcterms:created xsi:type="dcterms:W3CDTF">2026-06-25T05:08:43Z</dcterms:created>
  <dcterms:modified xsi:type="dcterms:W3CDTF">2026-06-25T05:28:40Z</dcterms:modified>
</cp:coreProperties>
</file>